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dd85566-7c08-2ee9-6f5e-e4b00315bd7e}">
          <p14:sldIdLst>
            <p14:sldId id="256"/>
            <p14:sldId id="257"/>
          </p14:sldIdLst>
        </p14:section>
        <p14:section name="The traceroute data" id="{5a0e7f65-83c1-da6c-0949-95ccdd89bcd1}">
          <p14:sldIdLst>
            <p14:sldId id="258"/>
            <p14:sldId id="259"/>
            <p14:sldId id="260"/>
            <p14:sldId id="261"/>
          </p14:sldIdLst>
        </p14:section>
        <p14:section name="Method" id="{2cf21c4b-049f-5add-0964-8b1026c25b74}">
          <p14:sldIdLst>
            <p14:sldId id="262"/>
            <p14:sldId id="263"/>
            <p14:sldId id="264"/>
            <p14:sldId id="265"/>
          </p14:sldIdLst>
        </p14:section>
        <p14:section name="Preprocessing" id="{5285e905-3cd4-8bf3-e8c3-67e2e4746292}">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Run 1 (15:13:03): mean RTT per hop [ms]</a:t>
            </a:r>
          </a:p>
        </c:rich>
      </c:tx>
      <c:layout/>
      <c:overlay val="0"/>
    </c:title>
    <c:autoTitleDeleted val="0"/>
    <c:plotArea>
      <c:layout/>
      <c:barChart>
        <c:barDir val="col"/>
        <c:grouping val="clustered"/>
        <c:varyColors val="0"/>
        <c:ser>
          <c:idx val="0"/>
          <c:order val="0"/>
          <c:tx>
            <c:strRef>
              <c:f>Sheet1!$B$1</c:f>
              <c:strCache>
                <c:ptCount val="1"/>
                <c:pt idx="0">
                  <c:v>ping_avg</c:v>
                </c:pt>
              </c:strCache>
            </c:strRef>
          </c:tx>
          <c:spPr>
            <a:solidFill>
              <a:srgbClr val="0F8B8D"/>
            </a:solidFill>
            <a:effectLst/>
          </c:spPr>
          <c:invertIfNegative val="0"/>
          <c:dLbls>
            <c:numFmt formatCode="0.0" sourceLinked="0"/>
            <c:txPr>
              <a:bodyPr/>
              <a:lstStyle/>
              <a:p>
                <a:pPr>
                  <a:defRPr b="0" i="0" strike="noStrike" sz="1000" u="none">
                    <a:solidFill>
                      <a:srgbClr val="14213D"/>
                    </a:solidFill>
                    <a:latin typeface="+mn-lt"/>
                  </a:defRPr>
                </a:pPr>
              </a:p>
            </c:txPr>
            <c:showLegendKey val="0"/>
            <c:showVal val="1"/>
            <c:showCatName val="0"/>
            <c:showSerName val="0"/>
            <c:showPercent val="0"/>
            <c:showBubbleSize val="0"/>
            <c:showLeaderLines val="0"/>
          </c:dLbls>
          <c:cat>
            <c:multiLvlStrRef>
              <c:f>Sheet1!$A$2:$A$14</c:f>
              <c:multiLvlStrCache>
                <c:ptCount val="13"/>
                <c:lvl>
                  <c:pt idx="0">
                    <c:v>hop 1</c:v>
                  </c:pt>
                  <c:pt idx="1">
                    <c:v>hop 2</c:v>
                  </c:pt>
                  <c:pt idx="2">
                    <c:v>hop 3</c:v>
                  </c:pt>
                  <c:pt idx="3">
                    <c:v>hop 4</c:v>
                  </c:pt>
                  <c:pt idx="4">
                    <c:v>hop 5</c:v>
                  </c:pt>
                  <c:pt idx="5">
                    <c:v>hop 6</c:v>
                  </c:pt>
                  <c:pt idx="6">
                    <c:v>hop 7</c:v>
                  </c:pt>
                  <c:pt idx="7">
                    <c:v>hop 8</c:v>
                  </c:pt>
                  <c:pt idx="8">
                    <c:v>hop 9</c:v>
                  </c:pt>
                  <c:pt idx="9">
                    <c:v>hop 10</c:v>
                  </c:pt>
                  <c:pt idx="10">
                    <c:v>hop 11</c:v>
                  </c:pt>
                  <c:pt idx="11">
                    <c:v>hop 12</c:v>
                  </c:pt>
                  <c:pt idx="12">
                    <c:v>hop 13</c:v>
                  </c:pt>
                </c:lvl>
              </c:multiLvlStrCache>
            </c:multiLvlStrRef>
          </c:cat>
          <c:val>
            <c:numRef>
              <c:f>Sheet1!$B$2:$B$14</c:f>
              <c:numCache>
                <c:formatCode>General</c:formatCode>
                <c:ptCount val="13"/>
                <c:pt idx="0">
                  <c:v>29.35</c:v>
                </c:pt>
                <c:pt idx="1">
                  <c:v>29.82</c:v>
                </c:pt>
                <c:pt idx="2">
                  <c:v>26.19</c:v>
                </c:pt>
                <c:pt idx="3">
                  <c:v>28.36</c:v>
                </c:pt>
                <c:pt idx="4">
                  <c:v>28.61</c:v>
                </c:pt>
                <c:pt idx="5">
                  <c:v>0</c:v>
                </c:pt>
                <c:pt idx="6">
                  <c:v>38.88</c:v>
                </c:pt>
                <c:pt idx="7">
                  <c:v>38.74</c:v>
                </c:pt>
                <c:pt idx="8">
                  <c:v>44.08</c:v>
                </c:pt>
                <c:pt idx="9">
                  <c:v>51.33</c:v>
                </c:pt>
                <c:pt idx="10">
                  <c:v>61.4</c:v>
                </c:pt>
                <c:pt idx="11">
                  <c:v>55.72</c:v>
                </c:pt>
                <c:pt idx="12">
                  <c:v>57.09</c:v>
                </c:pt>
              </c:numCache>
            </c:numRef>
          </c:val>
        </c:ser>
        <c:dLbls>
          <c:numFmt formatCode="0.0" sourceLinked="0"/>
          <c:txPr>
            <a:bodyPr/>
            <a:lstStyle/>
            <a:p>
              <a:pPr>
                <a:defRPr b="0" i="0" strike="noStrike" sz="1000" u="none">
                  <a:solidFill>
                    <a:srgbClr val="14213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B7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6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Correction factor c_dt per hour [Mbit/s] (Table III)</a:t>
            </a:r>
          </a:p>
        </c:rich>
      </c:tx>
      <c:layout/>
      <c:overlay val="0"/>
    </c:title>
    <c:autoTitleDeleted val="0"/>
    <c:plotArea>
      <c:layout/>
      <c:barChart>
        <c:barDir val="col"/>
        <c:grouping val="clustered"/>
        <c:varyColors val="0"/>
        <c:ser>
          <c:idx val="0"/>
          <c:order val="0"/>
          <c:tx>
            <c:strRef>
              <c:f>Sheet1!$B$1</c:f>
              <c:strCache>
                <c:ptCount val="1"/>
                <c:pt idx="0">
                  <c:v>c_dt</c:v>
                </c:pt>
              </c:strCache>
            </c:strRef>
          </c:tx>
          <c:spPr>
            <a:solidFill>
              <a:srgbClr val="0F8B8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-10.35</c:v>
                </c:pt>
                <c:pt idx="1">
                  <c:v>-12.38</c:v>
                </c:pt>
                <c:pt idx="2">
                  <c:v>-13.73</c:v>
                </c:pt>
                <c:pt idx="3">
                  <c:v>-17.02</c:v>
                </c:pt>
                <c:pt idx="4">
                  <c:v>-20.51</c:v>
                </c:pt>
                <c:pt idx="5">
                  <c:v>-29.64</c:v>
                </c:pt>
                <c:pt idx="6">
                  <c:v>-12.37</c:v>
                </c:pt>
                <c:pt idx="7">
                  <c:v>-6.44</c:v>
                </c:pt>
                <c:pt idx="8">
                  <c:v>-5.37</c:v>
                </c:pt>
                <c:pt idx="9">
                  <c:v>-6.14</c:v>
                </c:pt>
                <c:pt idx="10">
                  <c:v>-4.59</c:v>
                </c:pt>
                <c:pt idx="11">
                  <c:v>0.27</c:v>
                </c:pt>
                <c:pt idx="12">
                  <c:v>0.08</c:v>
                </c:pt>
                <c:pt idx="13">
                  <c:v>0.28</c:v>
                </c:pt>
                <c:pt idx="14">
                  <c:v>4.01</c:v>
                </c:pt>
                <c:pt idx="15">
                  <c:v>4.35</c:v>
                </c:pt>
                <c:pt idx="16">
                  <c:v>10.34</c:v>
                </c:pt>
                <c:pt idx="17">
                  <c:v>20.46</c:v>
                </c:pt>
                <c:pt idx="18">
                  <c:v>24.65</c:v>
                </c:pt>
                <c:pt idx="19">
                  <c:v>30.7</c:v>
                </c:pt>
                <c:pt idx="20">
                  <c:v>31.72</c:v>
                </c:pt>
                <c:pt idx="21">
                  <c:v>20.38</c:v>
                </c:pt>
                <c:pt idx="22">
                  <c:v>3.2</c:v>
                </c:pt>
                <c:pt idx="23">
                  <c:v>-1.13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C6B7A"/>
                    </a:solidFill>
                    <a:latin typeface="Arial"/>
                  </a:defRPr>
                </a:pPr>
                <a:r>
                  <a:rPr sz="1100" b="0" i="0" u="none" strike="noStrike">
                    <a:solidFill>
                      <a:srgbClr val="5C6B7A"/>
                    </a:solidFill>
                    <a:latin typeface="Arial"/>
                  </a:rPr>
                  <a:t>Hour of day</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B7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6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study uses the WetLinks dataset (Laniewski et al., 2024). The paper shows that rain lowers the download throughput. Here we ask whether rain also changes the bent-pipe RTT, using the Osnabrück traceroute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dish, the satellite and the ground station are not visible in a traceroute, because they forward the signal without routing it. The first router after the radio part is the Starlink gateway 100.64.0.1, which is hop 1 at Osnabrück. Its RTT is the bent-pipe RTT.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says MTR runs every 6 minutes with 15 report cycles. In the Osnabrück file the median time between two runs is 5.9 minutes, and packets_send is 15 for every 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first 26 data rows of Raw_Data/Osnabrück/net_traceroute.csv. Two traceroute runs, at 15:13:03 and 15:18:53, each with 13 rows. Only the hop-1 rows are used. Hop 6 of run 1 did not answer (???, 100%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describes one hop of one run. The bent-pipe values come from the row where hop_id is 100.64.0.1.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WetLinks paper does not explain this effect. A traceroute reply (ICMP time exceeded) is generated by the router's control processor, with low priority and rate limiting, so the reply delay includes processing time. The probes to different hops are sent at different times, and over Starlink the delay varies from moment to moment. The reply may take a different return path. Consequence for the analysis: intermediate hop RTTs are noisy, so we use medians over many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V-E-1 of the paper. The correction is a single value per hour for the whole dataset, computed from non-rainy samples of both sites together. The paper itself notes that it does not account for inter-day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run the preprocessed file stores the bent-pipe RTT (mean, best, worst, std), the route label, the rain rate at the time of the run, rain in the 15 and 60 minutes before, other weather values, and hour and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gateway 100.64.0.1 is most likely located near the PoP in Frankfurt, while the ground station is probably in Aerzen. The fibre between them is part of the bent-pipe RTT. A change of gateway or ground station can therefore change the bent-pipe RTT.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Whatever the cause, the RTT level changes over time. The correction therefore has to follow the time, not only the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on this slide are an illustration. For dry runs, excess_rtt is about 0 on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correction uses one value per hour for the whole period. Here the level follows the change over the months, and the hour correction is computed separately for the two periods because the day/night swing was 4.4 ms in autumn and 2.8 ms in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88 runs next to the December gap have no level and therefore no excess_rtt.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lstStyle>
            <a:lvl1pPr indent="0" marL="0">
              <a:buNone/>
              <a:defRPr lang="en-US" sz="4400" b="1" dirty="0">
                <a:solidFill>
                  <a:schemeClr val="bg1"/>
                </a:solidFill>
                <a:latin typeface="Cambria" pitchFamily="34" charset="0"/>
                <a:ea typeface="Cambria" pitchFamily="34" charset="-122"/>
                <a:cs typeface="Cambria" pitchFamily="34" charset="-120"/>
              </a:defRPr>
            </a:lvl1pPr>
          </a:lstStyle>
          <a:p>
            <a:pPr indent="0" marL="0">
              <a:buNone/>
            </a:pPr>
            <a:endParaRPr lang="en-US" sz="4400" dirty="0"/>
          </a:p>
        </p:txBody>
      </p:sp>
      <p:sp>
        <p:nvSpPr>
          <p:cNvPr id="3" name="Text 0"/>
          <p:cNvSpPr/>
          <p:nvPr>
            <p:ph idx="101" type="body" hasCustomPrompt="1"/>
          </p:nvPr>
        </p:nvSpPr>
        <p:spPr>
          <a:xfrm>
            <a:off x="731520" y="3474720"/>
            <a:ext cx="10698480" cy="128016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nchor="b"/>
          <a:lstStyle/>
          <a:p>
            <a:pPr indent="0" marL="0">
              <a:buNone/>
            </a:pPr>
            <a:r>
              <a:rPr lang="en-US" sz="4400" b="1" dirty="0">
                <a:solidFill>
                  <a:schemeClr val="bg1"/>
                </a:solidFill>
                <a:latin typeface="Cambria" pitchFamily="34" charset="0"/>
                <a:ea typeface="Cambria" pitchFamily="34" charset="-122"/>
                <a:cs typeface="Cambria" pitchFamily="34" charset="-120"/>
              </a:rPr>
              <a:t>Bent-pipe RTT and Rain</a:t>
            </a:r>
            <a:endParaRPr lang="en-US" sz="4400" dirty="0"/>
          </a:p>
        </p:txBody>
      </p:sp>
      <p:sp>
        <p:nvSpPr>
          <p:cNvPr id="3" name="Text 0"/>
          <p:cNvSpPr/>
          <p:nvPr>
            <p:ph idx="101" type="body" hasCustomPrompt="1"/>
          </p:nvPr>
        </p:nvSpPr>
        <p:spPr>
          <a:xfrm>
            <a:off x="731520" y="3474720"/>
            <a:ext cx="10698480" cy="1280160"/>
          </a:xfrm>
          <a:prstGeom prst="rect">
            <a:avLst/>
          </a:prstGeom>
          <a:noFill/>
          <a:ln/>
        </p:spPr>
        <p:txBody>
          <a:bodyPr wrap="square" rtlCol="0" anchor="t"/>
          <a:lstStyle/>
          <a:p>
            <a:pPr indent="0" marL="0">
              <a:buNone/>
            </a:pPr>
            <a:r>
              <a:rPr lang="en-US" sz="2000" dirty="0">
                <a:solidFill>
                  <a:schemeClr val="accent4"/>
                </a:solidFill>
              </a:rPr>
              <a:t>Is there a relation between rain and the Starlink bent-pipe latency?</a:t>
            </a:r>
            <a:endParaRPr lang="en-US" sz="2000" dirty="0"/>
          </a:p>
          <a:p>
            <a:pPr indent="0" marL="0">
              <a:buNone/>
            </a:pPr>
            <a:r>
              <a:rPr lang="en-US" sz="2000" dirty="0">
                <a:solidFill>
                  <a:schemeClr val="accent4"/>
                </a:solidFill>
              </a:rPr>
              <a:t>WetLinks traceroute data · Osnabrück · Sep 2023 – Mar 2024</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Objective: does rain change the bent-pipe RTT?</a:t>
            </a:r>
            <a:endParaRPr lang="en-US" sz="3200" dirty="0"/>
          </a:p>
        </p:txBody>
      </p:sp>
      <p:sp>
        <p:nvSpPr>
          <p:cNvPr id="3" name="node_1"/>
          <p:cNvSpPr/>
          <p:nvPr/>
        </p:nvSpPr>
        <p:spPr>
          <a:xfrm>
            <a:off x="548640" y="1737360"/>
            <a:ext cx="1508760" cy="914400"/>
          </a:xfrm>
          <a:prstGeom prst="roundRect">
            <a:avLst>
              <a:gd name="adj" fmla="val 12000"/>
            </a:avLst>
          </a:prstGeom>
          <a:solidFill>
            <a:schemeClr val="bg2"/>
          </a:solidFill>
          <a:ln w="12700">
            <a:solidFill>
              <a:schemeClr val="accent3"/>
            </a:solidFill>
            <a:prstDash val="solid"/>
          </a:ln>
        </p:spPr>
      </p:sp>
      <p:sp>
        <p:nvSpPr>
          <p:cNvPr id="4" name="text_2"/>
          <p:cNvSpPr txBox="1"/>
          <p:nvPr/>
        </p:nvSpPr>
        <p:spPr>
          <a:xfrm>
            <a:off x="548640" y="1737360"/>
            <a:ext cx="1508760" cy="914400"/>
          </a:xfrm>
          <a:prstGeom prst="rect">
            <a:avLst/>
          </a:prstGeom>
          <a:noFill/>
          <a:ln/>
        </p:spPr>
        <p:txBody>
          <a:bodyPr wrap="square" lIns="25400" tIns="25400" rIns="25400" bIns="25400" rtlCol="0" anchor="ctr"/>
          <a:lstStyle/>
          <a:p>
            <a:pPr algn="ctr" indent="0" marL="0">
              <a:buNone/>
            </a:pPr>
            <a:r>
              <a:rPr lang="en-US" sz="1400" dirty="0">
                <a:solidFill>
                  <a:schemeClr val="tx2"/>
                </a:solidFill>
              </a:rPr>
              <a:t>Measurement</a:t>
            </a:r>
            <a:endParaRPr lang="en-US" sz="1400" dirty="0"/>
          </a:p>
          <a:p>
            <a:pPr algn="ctr" indent="0" marL="0">
              <a:buNone/>
            </a:pPr>
            <a:r>
              <a:rPr lang="en-US" sz="1400" dirty="0">
                <a:solidFill>
                  <a:schemeClr val="tx2"/>
                </a:solidFill>
              </a:rPr>
              <a:t>client</a:t>
            </a:r>
            <a:endParaRPr lang="en-US" sz="1400" dirty="0"/>
          </a:p>
        </p:txBody>
      </p:sp>
      <p:sp>
        <p:nvSpPr>
          <p:cNvPr id="5" name="node_3"/>
          <p:cNvSpPr/>
          <p:nvPr/>
        </p:nvSpPr>
        <p:spPr>
          <a:xfrm>
            <a:off x="2331720" y="1737360"/>
            <a:ext cx="1508760" cy="914400"/>
          </a:xfrm>
          <a:prstGeom prst="roundRect">
            <a:avLst>
              <a:gd name="adj" fmla="val 12000"/>
            </a:avLst>
          </a:prstGeom>
          <a:solidFill>
            <a:schemeClr val="bg2"/>
          </a:solidFill>
          <a:ln w="12700">
            <a:solidFill>
              <a:schemeClr val="accent3"/>
            </a:solidFill>
            <a:prstDash val="solid"/>
          </a:ln>
        </p:spPr>
      </p:sp>
      <p:sp>
        <p:nvSpPr>
          <p:cNvPr id="6" name="text_4"/>
          <p:cNvSpPr txBox="1"/>
          <p:nvPr/>
        </p:nvSpPr>
        <p:spPr>
          <a:xfrm>
            <a:off x="2331720" y="1737360"/>
            <a:ext cx="1508760" cy="914400"/>
          </a:xfrm>
          <a:prstGeom prst="rect">
            <a:avLst/>
          </a:prstGeom>
          <a:noFill/>
          <a:ln/>
        </p:spPr>
        <p:txBody>
          <a:bodyPr wrap="square" lIns="25400" tIns="25400" rIns="25400" bIns="25400" rtlCol="0" anchor="ctr"/>
          <a:lstStyle/>
          <a:p>
            <a:pPr algn="ctr" indent="0" marL="0">
              <a:buNone/>
            </a:pPr>
            <a:r>
              <a:rPr lang="en-US" sz="1400" dirty="0">
                <a:solidFill>
                  <a:schemeClr val="tx2"/>
                </a:solidFill>
              </a:rPr>
              <a:t>Dish</a:t>
            </a:r>
            <a:endParaRPr lang="en-US" sz="1400" dirty="0"/>
          </a:p>
        </p:txBody>
      </p:sp>
      <p:sp>
        <p:nvSpPr>
          <p:cNvPr id="7" name="node_5"/>
          <p:cNvSpPr/>
          <p:nvPr/>
        </p:nvSpPr>
        <p:spPr>
          <a:xfrm>
            <a:off x="4114800" y="1737360"/>
            <a:ext cx="1508760" cy="914400"/>
          </a:xfrm>
          <a:prstGeom prst="roundRect">
            <a:avLst>
              <a:gd name="adj" fmla="val 12000"/>
            </a:avLst>
          </a:prstGeom>
          <a:solidFill>
            <a:schemeClr val="bg2"/>
          </a:solidFill>
          <a:ln w="12700">
            <a:solidFill>
              <a:schemeClr val="accent3"/>
            </a:solidFill>
            <a:prstDash val="solid"/>
          </a:ln>
        </p:spPr>
      </p:sp>
      <p:sp>
        <p:nvSpPr>
          <p:cNvPr id="8" name="text_6"/>
          <p:cNvSpPr txBox="1"/>
          <p:nvPr/>
        </p:nvSpPr>
        <p:spPr>
          <a:xfrm>
            <a:off x="4114800" y="1737360"/>
            <a:ext cx="1508760" cy="914400"/>
          </a:xfrm>
          <a:prstGeom prst="rect">
            <a:avLst/>
          </a:prstGeom>
          <a:noFill/>
          <a:ln/>
        </p:spPr>
        <p:txBody>
          <a:bodyPr wrap="square" lIns="25400" tIns="25400" rIns="25400" bIns="25400" rtlCol="0" anchor="ctr"/>
          <a:lstStyle/>
          <a:p>
            <a:pPr algn="ctr" indent="0" marL="0">
              <a:buNone/>
            </a:pPr>
            <a:r>
              <a:rPr lang="en-US" sz="1400" dirty="0">
                <a:solidFill>
                  <a:schemeClr val="tx2"/>
                </a:solidFill>
              </a:rPr>
              <a:t>Satellite</a:t>
            </a:r>
            <a:endParaRPr lang="en-US" sz="1400" dirty="0"/>
          </a:p>
        </p:txBody>
      </p:sp>
      <p:sp>
        <p:nvSpPr>
          <p:cNvPr id="9" name="node_7"/>
          <p:cNvSpPr/>
          <p:nvPr/>
        </p:nvSpPr>
        <p:spPr>
          <a:xfrm>
            <a:off x="5897880" y="1737360"/>
            <a:ext cx="1508760" cy="914400"/>
          </a:xfrm>
          <a:prstGeom prst="roundRect">
            <a:avLst>
              <a:gd name="adj" fmla="val 12000"/>
            </a:avLst>
          </a:prstGeom>
          <a:solidFill>
            <a:schemeClr val="bg2"/>
          </a:solidFill>
          <a:ln w="12700">
            <a:solidFill>
              <a:schemeClr val="accent3"/>
            </a:solidFill>
            <a:prstDash val="solid"/>
          </a:ln>
        </p:spPr>
      </p:sp>
      <p:sp>
        <p:nvSpPr>
          <p:cNvPr id="10" name="text_8"/>
          <p:cNvSpPr txBox="1"/>
          <p:nvPr/>
        </p:nvSpPr>
        <p:spPr>
          <a:xfrm>
            <a:off x="5897880" y="1737360"/>
            <a:ext cx="1508760" cy="914400"/>
          </a:xfrm>
          <a:prstGeom prst="rect">
            <a:avLst/>
          </a:prstGeom>
          <a:noFill/>
          <a:ln/>
        </p:spPr>
        <p:txBody>
          <a:bodyPr wrap="square" lIns="25400" tIns="25400" rIns="25400" bIns="25400" rtlCol="0" anchor="ctr"/>
          <a:lstStyle/>
          <a:p>
            <a:pPr algn="ctr" indent="0" marL="0">
              <a:buNone/>
            </a:pPr>
            <a:r>
              <a:rPr lang="en-US" sz="1400" dirty="0">
                <a:solidFill>
                  <a:schemeClr val="tx2"/>
                </a:solidFill>
              </a:rPr>
              <a:t>Ground</a:t>
            </a:r>
            <a:endParaRPr lang="en-US" sz="1400" dirty="0"/>
          </a:p>
          <a:p>
            <a:pPr algn="ctr" indent="0" marL="0">
              <a:buNone/>
            </a:pPr>
            <a:r>
              <a:rPr lang="en-US" sz="1400" dirty="0">
                <a:solidFill>
                  <a:schemeClr val="tx2"/>
                </a:solidFill>
              </a:rPr>
              <a:t>station</a:t>
            </a:r>
            <a:endParaRPr lang="en-US" sz="1400" dirty="0"/>
          </a:p>
        </p:txBody>
      </p:sp>
      <p:sp>
        <p:nvSpPr>
          <p:cNvPr id="11" name="node_9"/>
          <p:cNvSpPr/>
          <p:nvPr/>
        </p:nvSpPr>
        <p:spPr>
          <a:xfrm>
            <a:off x="7680960" y="1737360"/>
            <a:ext cx="1874520" cy="914400"/>
          </a:xfrm>
          <a:prstGeom prst="roundRect">
            <a:avLst>
              <a:gd name="adj" fmla="val 12000"/>
            </a:avLst>
          </a:prstGeom>
          <a:solidFill>
            <a:schemeClr val="accent2"/>
          </a:solidFill>
          <a:ln w="12700">
            <a:solidFill>
              <a:schemeClr val="accent2"/>
            </a:solidFill>
            <a:prstDash val="solid"/>
          </a:ln>
        </p:spPr>
      </p:sp>
      <p:sp>
        <p:nvSpPr>
          <p:cNvPr id="12" name="text_10"/>
          <p:cNvSpPr txBox="1"/>
          <p:nvPr/>
        </p:nvSpPr>
        <p:spPr>
          <a:xfrm>
            <a:off x="7680960" y="1737360"/>
            <a:ext cx="1874520" cy="914400"/>
          </a:xfrm>
          <a:prstGeom prst="rect">
            <a:avLst/>
          </a:prstGeom>
          <a:noFill/>
          <a:ln/>
        </p:spPr>
        <p:txBody>
          <a:bodyPr wrap="square" lIns="25400" tIns="25400" rIns="25400" bIns="25400" rtlCol="0" anchor="ctr"/>
          <a:lstStyle/>
          <a:p>
            <a:pPr algn="ctr" indent="0" marL="0">
              <a:buNone/>
            </a:pPr>
            <a:r>
              <a:rPr lang="en-US" sz="1400" b="1" dirty="0">
                <a:solidFill>
                  <a:schemeClr val="tx2"/>
                </a:solidFill>
              </a:rPr>
              <a:t>Starlink gateway</a:t>
            </a:r>
            <a:endParaRPr lang="en-US" sz="1400" dirty="0"/>
          </a:p>
          <a:p>
            <a:pPr algn="ctr" indent="0" marL="0">
              <a:buNone/>
            </a:pPr>
            <a:r>
              <a:rPr lang="en-US" sz="1400" b="1" dirty="0">
                <a:solidFill>
                  <a:schemeClr val="tx2"/>
                </a:solidFill>
              </a:rPr>
              <a:t>100.64.0.1 (hop 1)</a:t>
            </a:r>
            <a:endParaRPr lang="en-US" sz="1400" dirty="0"/>
          </a:p>
        </p:txBody>
      </p:sp>
      <p:sp>
        <p:nvSpPr>
          <p:cNvPr id="13" name="node_11"/>
          <p:cNvSpPr/>
          <p:nvPr/>
        </p:nvSpPr>
        <p:spPr>
          <a:xfrm>
            <a:off x="9829800" y="1737360"/>
            <a:ext cx="1874520" cy="914400"/>
          </a:xfrm>
          <a:prstGeom prst="roundRect">
            <a:avLst>
              <a:gd name="adj" fmla="val 12000"/>
            </a:avLst>
          </a:prstGeom>
          <a:solidFill>
            <a:schemeClr val="bg2"/>
          </a:solidFill>
          <a:ln w="12700">
            <a:solidFill>
              <a:schemeClr val="accent3"/>
            </a:solidFill>
            <a:prstDash val="solid"/>
          </a:ln>
        </p:spPr>
      </p:sp>
      <p:sp>
        <p:nvSpPr>
          <p:cNvPr id="14" name="text_12"/>
          <p:cNvSpPr txBox="1"/>
          <p:nvPr/>
        </p:nvSpPr>
        <p:spPr>
          <a:xfrm>
            <a:off x="9829800" y="1737360"/>
            <a:ext cx="1874520" cy="914400"/>
          </a:xfrm>
          <a:prstGeom prst="rect">
            <a:avLst/>
          </a:prstGeom>
          <a:noFill/>
          <a:ln/>
        </p:spPr>
        <p:txBody>
          <a:bodyPr wrap="square" lIns="25400" tIns="25400" rIns="25400" bIns="25400" rtlCol="0" anchor="ctr"/>
          <a:lstStyle/>
          <a:p>
            <a:pPr algn="ctr" indent="0" marL="0">
              <a:buNone/>
            </a:pPr>
            <a:r>
              <a:rPr lang="en-US" sz="1400" dirty="0">
                <a:solidFill>
                  <a:schemeClr val="tx2"/>
                </a:solidFill>
              </a:rPr>
              <a:t>Internet →</a:t>
            </a:r>
            <a:endParaRPr lang="en-US" sz="1400" dirty="0"/>
          </a:p>
          <a:p>
            <a:pPr algn="ctr" indent="0" marL="0">
              <a:buNone/>
            </a:pPr>
            <a:r>
              <a:rPr lang="en-US" sz="1400" dirty="0">
                <a:solidFill>
                  <a:schemeClr val="tx2"/>
                </a:solidFill>
              </a:rPr>
              <a:t>server Osnabrück</a:t>
            </a:r>
            <a:endParaRPr lang="en-US" sz="1400" dirty="0"/>
          </a:p>
        </p:txBody>
      </p:sp>
      <p:sp>
        <p:nvSpPr>
          <p:cNvPr id="15" name="arrow_13"/>
          <p:cNvSpPr/>
          <p:nvPr/>
        </p:nvSpPr>
        <p:spPr>
          <a:xfrm>
            <a:off x="2057400" y="2194560"/>
            <a:ext cx="274320" cy="0"/>
          </a:xfrm>
          <a:prstGeom prst="line">
            <a:avLst/>
          </a:prstGeom>
          <a:noFill/>
          <a:ln w="31750">
            <a:solidFill>
              <a:schemeClr val="accent3"/>
            </a:solidFill>
            <a:prstDash val="solid"/>
            <a:tailEnd type="triangle"/>
          </a:ln>
        </p:spPr>
      </p:sp>
      <p:sp>
        <p:nvSpPr>
          <p:cNvPr id="16" name="arrow_14"/>
          <p:cNvSpPr/>
          <p:nvPr/>
        </p:nvSpPr>
        <p:spPr>
          <a:xfrm>
            <a:off x="3840480" y="2194560"/>
            <a:ext cx="274320" cy="0"/>
          </a:xfrm>
          <a:prstGeom prst="line">
            <a:avLst/>
          </a:prstGeom>
          <a:noFill/>
          <a:ln w="31750">
            <a:solidFill>
              <a:schemeClr val="accent1"/>
            </a:solidFill>
            <a:prstDash val="dash"/>
            <a:tailEnd type="triangle"/>
          </a:ln>
        </p:spPr>
      </p:sp>
      <p:sp>
        <p:nvSpPr>
          <p:cNvPr id="17" name="arrow_15"/>
          <p:cNvSpPr/>
          <p:nvPr/>
        </p:nvSpPr>
        <p:spPr>
          <a:xfrm>
            <a:off x="5623560" y="2194560"/>
            <a:ext cx="274320" cy="0"/>
          </a:xfrm>
          <a:prstGeom prst="line">
            <a:avLst/>
          </a:prstGeom>
          <a:noFill/>
          <a:ln w="31750">
            <a:solidFill>
              <a:schemeClr val="accent1"/>
            </a:solidFill>
            <a:prstDash val="dash"/>
            <a:tailEnd type="triangle"/>
          </a:ln>
        </p:spPr>
      </p:sp>
      <p:sp>
        <p:nvSpPr>
          <p:cNvPr id="18" name="arrow_16"/>
          <p:cNvSpPr/>
          <p:nvPr/>
        </p:nvSpPr>
        <p:spPr>
          <a:xfrm>
            <a:off x="7406640" y="2194560"/>
            <a:ext cx="274320" cy="0"/>
          </a:xfrm>
          <a:prstGeom prst="line">
            <a:avLst/>
          </a:prstGeom>
          <a:noFill/>
          <a:ln w="31750">
            <a:solidFill>
              <a:schemeClr val="accent3"/>
            </a:solidFill>
            <a:prstDash val="solid"/>
            <a:tailEnd type="triangle"/>
          </a:ln>
        </p:spPr>
      </p:sp>
      <p:sp>
        <p:nvSpPr>
          <p:cNvPr id="19" name="arrow_17"/>
          <p:cNvSpPr/>
          <p:nvPr/>
        </p:nvSpPr>
        <p:spPr>
          <a:xfrm>
            <a:off x="9555480" y="2194560"/>
            <a:ext cx="274320" cy="0"/>
          </a:xfrm>
          <a:prstGeom prst="line">
            <a:avLst/>
          </a:prstGeom>
          <a:noFill/>
          <a:ln w="31750">
            <a:solidFill>
              <a:schemeClr val="accent3"/>
            </a:solidFill>
            <a:prstDash val="solid"/>
            <a:tailEnd type="triangle"/>
          </a:ln>
        </p:spPr>
      </p:sp>
      <p:sp>
        <p:nvSpPr>
          <p:cNvPr id="20" name="bracket_18"/>
          <p:cNvSpPr/>
          <p:nvPr/>
        </p:nvSpPr>
        <p:spPr>
          <a:xfrm>
            <a:off x="2331720" y="2834640"/>
            <a:ext cx="7223760" cy="457200"/>
          </a:xfrm>
          <a:prstGeom prst="rect">
            <a:avLst/>
          </a:prstGeom>
          <a:solidFill>
            <a:schemeClr val="accent1">
              <a:alpha val="15000"/>
            </a:schemeClr>
          </a:solidFill>
          <a:ln w="12700">
            <a:solidFill>
              <a:schemeClr val="accent1"/>
            </a:solidFill>
            <a:prstDash val="solid"/>
          </a:ln>
        </p:spPr>
      </p:sp>
      <p:sp>
        <p:nvSpPr>
          <p:cNvPr id="21" name="text_19"/>
          <p:cNvSpPr txBox="1"/>
          <p:nvPr/>
        </p:nvSpPr>
        <p:spPr>
          <a:xfrm>
            <a:off x="2331720" y="2834640"/>
            <a:ext cx="7223760" cy="457200"/>
          </a:xfrm>
          <a:prstGeom prst="rect">
            <a:avLst/>
          </a:prstGeom>
          <a:noFill/>
          <a:ln/>
        </p:spPr>
        <p:txBody>
          <a:bodyPr wrap="square" rtlCol="0" anchor="ctr"/>
          <a:lstStyle/>
          <a:p>
            <a:pPr algn="ctr" indent="0" marL="0">
              <a:buNone/>
            </a:pPr>
            <a:r>
              <a:rPr lang="en-US" sz="1400" b="1" dirty="0">
                <a:solidFill>
                  <a:schemeClr val="accent1"/>
                </a:solidFill>
              </a:rPr>
              <a:t>bent-pipe RTT = RTT to hop 1 (contains the whole radio part)</a:t>
            </a:r>
            <a:endParaRPr lang="en-US" sz="1400" dirty="0"/>
          </a:p>
        </p:txBody>
      </p:sp>
      <p:sp>
        <p:nvSpPr>
          <p:cNvPr id="22" name="text_20"/>
          <p:cNvSpPr txBox="1"/>
          <p:nvPr/>
        </p:nvSpPr>
        <p:spPr>
          <a:xfrm>
            <a:off x="2926080" y="1325880"/>
            <a:ext cx="5760720" cy="365760"/>
          </a:xfrm>
          <a:prstGeom prst="rect">
            <a:avLst/>
          </a:prstGeom>
          <a:noFill/>
          <a:ln/>
        </p:spPr>
        <p:txBody>
          <a:bodyPr wrap="square" rtlCol="0" anchor="t"/>
          <a:lstStyle/>
          <a:p>
            <a:pPr algn="ctr" indent="0" marL="0">
              <a:buNone/>
            </a:pPr>
            <a:r>
              <a:rPr lang="en-US" sz="1200" i="1" dirty="0">
                <a:solidFill>
                  <a:schemeClr val="accent1"/>
                </a:solidFill>
              </a:rPr>
              <a:t>radio links (Ku/Ka-band): rain can weaken the signal here</a:t>
            </a:r>
            <a:endParaRPr lang="en-US" sz="1200" dirty="0"/>
          </a:p>
        </p:txBody>
      </p:sp>
      <p:sp>
        <p:nvSpPr>
          <p:cNvPr id="23" name="card_21"/>
          <p:cNvSpPr/>
          <p:nvPr/>
        </p:nvSpPr>
        <p:spPr>
          <a:xfrm>
            <a:off x="548640" y="3840480"/>
            <a:ext cx="5303520" cy="2286000"/>
          </a:xfrm>
          <a:prstGeom prst="roundRect">
            <a:avLst>
              <a:gd name="adj" fmla="val 4800"/>
            </a:avLst>
          </a:prstGeom>
          <a:solidFill>
            <a:schemeClr val="bg2"/>
          </a:solidFill>
          <a:ln w="12700">
            <a:solidFill>
              <a:schemeClr val="bg2"/>
            </a:solidFill>
            <a:prstDash val="solid"/>
          </a:ln>
        </p:spPr>
      </p:sp>
      <p:sp>
        <p:nvSpPr>
          <p:cNvPr id="24" name="text_22"/>
          <p:cNvSpPr txBox="1"/>
          <p:nvPr/>
        </p:nvSpPr>
        <p:spPr>
          <a:xfrm>
            <a:off x="777240" y="3977640"/>
            <a:ext cx="4846320" cy="365760"/>
          </a:xfrm>
          <a:prstGeom prst="rect">
            <a:avLst/>
          </a:prstGeom>
          <a:noFill/>
          <a:ln/>
        </p:spPr>
        <p:txBody>
          <a:bodyPr wrap="square" rtlCol="0" anchor="t"/>
          <a:lstStyle/>
          <a:p>
            <a:pPr indent="0" marL="0">
              <a:buNone/>
            </a:pPr>
            <a:r>
              <a:rPr lang="en-US" sz="1800" b="1" dirty="0">
                <a:solidFill>
                  <a:schemeClr val="tx2"/>
                </a:solidFill>
                <a:latin typeface="Cambria" pitchFamily="34" charset="0"/>
                <a:ea typeface="Cambria" pitchFamily="34" charset="-122"/>
                <a:cs typeface="Cambria" pitchFamily="34" charset="-120"/>
              </a:rPr>
              <a:t>Question</a:t>
            </a:r>
            <a:endParaRPr lang="en-US" sz="1800" dirty="0"/>
          </a:p>
        </p:txBody>
      </p:sp>
      <p:sp>
        <p:nvSpPr>
          <p:cNvPr id="25" name="text_23"/>
          <p:cNvSpPr txBox="1"/>
          <p:nvPr/>
        </p:nvSpPr>
        <p:spPr>
          <a:xfrm>
            <a:off x="777240" y="4389120"/>
            <a:ext cx="4846320" cy="1645920"/>
          </a:xfrm>
          <a:prstGeom prst="rect">
            <a:avLst/>
          </a:prstGeom>
          <a:noFill/>
          <a:ln/>
        </p:spPr>
        <p:txBody>
          <a:bodyPr wrap="square" rtlCol="0" anchor="t"/>
          <a:lstStyle/>
          <a:p>
            <a:pPr indent="0" marL="0">
              <a:buNone/>
            </a:pPr>
            <a:r>
              <a:rPr lang="en-US" sz="1600" dirty="0">
                <a:solidFill>
                  <a:schemeClr val="tx1"/>
                </a:solidFill>
              </a:rPr>
              <a:t>Is there a relation between </a:t>
            </a:r>
            <a:pPr indent="0" marL="0">
              <a:buNone/>
            </a:pPr>
            <a:r>
              <a:rPr lang="en-US" sz="1600" b="1" dirty="0">
                <a:solidFill>
                  <a:schemeClr val="tx1"/>
                </a:solidFill>
              </a:rPr>
              <a:t>rain at the dish</a:t>
            </a:r>
            <a:pPr indent="0" marL="0">
              <a:buNone/>
            </a:pPr>
            <a:r>
              <a:rPr lang="en-US" sz="1600" dirty="0">
                <a:solidFill>
                  <a:schemeClr val="tx1"/>
                </a:solidFill>
              </a:rPr>
              <a:t> and the </a:t>
            </a:r>
            <a:pPr indent="0" marL="0">
              <a:buNone/>
            </a:pPr>
            <a:r>
              <a:rPr lang="en-US" sz="1600" b="1" dirty="0">
                <a:solidFill>
                  <a:schemeClr val="tx1"/>
                </a:solidFill>
              </a:rPr>
              <a:t>bent-pipe RTT</a:t>
            </a:r>
            <a:pPr indent="0" marL="0">
              <a:buNone/>
            </a:pPr>
            <a:r>
              <a:rPr lang="en-US" sz="1600" dirty="0">
                <a:solidFill>
                  <a:schemeClr val="tx1"/>
                </a:solidFill>
              </a:rPr>
              <a:t>? The paper found that rain lowers the download throughput; latency was not analysed against rain.</a:t>
            </a:r>
            <a:endParaRPr lang="en-US" sz="1600" dirty="0"/>
          </a:p>
        </p:txBody>
      </p:sp>
      <p:sp>
        <p:nvSpPr>
          <p:cNvPr id="26" name="card_24"/>
          <p:cNvSpPr/>
          <p:nvPr/>
        </p:nvSpPr>
        <p:spPr>
          <a:xfrm>
            <a:off x="6309360" y="3840480"/>
            <a:ext cx="5303520" cy="2286000"/>
          </a:xfrm>
          <a:prstGeom prst="roundRect">
            <a:avLst>
              <a:gd name="adj" fmla="val 4800"/>
            </a:avLst>
          </a:prstGeom>
          <a:solidFill>
            <a:schemeClr val="bg2"/>
          </a:solidFill>
          <a:ln w="12700">
            <a:solidFill>
              <a:schemeClr val="bg2"/>
            </a:solidFill>
            <a:prstDash val="solid"/>
          </a:ln>
        </p:spPr>
      </p:sp>
      <p:sp>
        <p:nvSpPr>
          <p:cNvPr id="27" name="text_25"/>
          <p:cNvSpPr txBox="1"/>
          <p:nvPr/>
        </p:nvSpPr>
        <p:spPr>
          <a:xfrm>
            <a:off x="6537960" y="3977640"/>
            <a:ext cx="4846320" cy="365760"/>
          </a:xfrm>
          <a:prstGeom prst="rect">
            <a:avLst/>
          </a:prstGeom>
          <a:noFill/>
          <a:ln/>
        </p:spPr>
        <p:txBody>
          <a:bodyPr wrap="square" rtlCol="0" anchor="t"/>
          <a:lstStyle/>
          <a:p>
            <a:pPr indent="0" marL="0">
              <a:buNone/>
            </a:pPr>
            <a:r>
              <a:rPr lang="en-US" sz="1800" b="1" dirty="0">
                <a:solidFill>
                  <a:schemeClr val="tx2"/>
                </a:solidFill>
                <a:latin typeface="Cambria" pitchFamily="34" charset="0"/>
                <a:ea typeface="Cambria" pitchFamily="34" charset="-122"/>
                <a:cs typeface="Cambria" pitchFamily="34" charset="-120"/>
              </a:rPr>
              <a:t>Approach</a:t>
            </a:r>
            <a:endParaRPr lang="en-US" sz="1800" dirty="0"/>
          </a:p>
        </p:txBody>
      </p:sp>
      <p:sp>
        <p:nvSpPr>
          <p:cNvPr id="28" name="text_26"/>
          <p:cNvSpPr txBox="1"/>
          <p:nvPr/>
        </p:nvSpPr>
        <p:spPr>
          <a:xfrm>
            <a:off x="6537960" y="4389120"/>
            <a:ext cx="4846320" cy="1645920"/>
          </a:xfrm>
          <a:prstGeom prst="rect">
            <a:avLst/>
          </a:prstGeom>
          <a:noFill/>
          <a:ln/>
        </p:spPr>
        <p:txBody>
          <a:bodyPr wrap="square" rtlCol="0" anchor="t"/>
          <a:lstStyle/>
          <a:p>
            <a:pPr marL="342900" indent="-342900">
              <a:spcAft>
                <a:spcPts val="600"/>
              </a:spcAft>
              <a:buSzPct val="100000"/>
              <a:buChar char="•"/>
            </a:pPr>
            <a:r>
              <a:rPr lang="en-US" sz="1600" dirty="0">
                <a:solidFill>
                  <a:schemeClr val="tx1"/>
                </a:solidFill>
              </a:rPr>
              <a:t>Data: net_traceroute.csv of Osnabrück</a:t>
            </a:r>
            <a:endParaRPr lang="en-US" sz="1600" dirty="0"/>
          </a:p>
          <a:p>
            <a:pPr marL="342900" indent="-342900">
              <a:spcAft>
                <a:spcPts val="600"/>
              </a:spcAft>
              <a:buSzPct val="100000"/>
              <a:buChar char="•"/>
            </a:pPr>
            <a:r>
              <a:rPr lang="en-US" sz="1600" dirty="0">
                <a:solidFill>
                  <a:schemeClr val="tx1"/>
                </a:solidFill>
              </a:rPr>
              <a:t>First neutralise other factors (time of day, change over the months)</a:t>
            </a:r>
            <a:endParaRPr lang="en-US" sz="1600" dirty="0"/>
          </a:p>
          <a:p>
            <a:pPr marL="342900" indent="-342900">
              <a:spcAft>
                <a:spcPts val="600"/>
              </a:spcAft>
              <a:buSzPct val="100000"/>
              <a:buChar char="•"/>
            </a:pPr>
            <a:r>
              <a:rPr lang="en-US" sz="1600" dirty="0">
                <a:solidFill>
                  <a:schemeClr val="tx1"/>
                </a:solidFill>
              </a:rPr>
              <a:t>Then relate the remaining RTT to rain</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net_traceroute: one MTR run about every 6 minutes</a:t>
            </a:r>
            <a:endParaRPr lang="en-US" sz="3200" dirty="0"/>
          </a:p>
        </p:txBody>
      </p:sp>
      <p:sp>
        <p:nvSpPr>
          <p:cNvPr id="3" name="text_27"/>
          <p:cNvSpPr txBox="1"/>
          <p:nvPr/>
        </p:nvSpPr>
        <p:spPr>
          <a:xfrm>
            <a:off x="548640" y="1234440"/>
            <a:ext cx="11064240" cy="731520"/>
          </a:xfrm>
          <a:prstGeom prst="rect">
            <a:avLst/>
          </a:prstGeom>
          <a:noFill/>
          <a:ln/>
        </p:spPr>
        <p:txBody>
          <a:bodyPr wrap="square" rtlCol="0" anchor="t"/>
          <a:lstStyle/>
          <a:p>
            <a:pPr indent="0" marL="0">
              <a:buNone/>
            </a:pPr>
            <a:r>
              <a:rPr lang="en-US" sz="1600" dirty="0">
                <a:solidFill>
                  <a:schemeClr val="tx1"/>
                </a:solidFill>
              </a:rPr>
              <a:t>MTR (Matt's traceroute, v0.94) finds every router between the measurement client and the server </a:t>
            </a:r>
            <a:pPr indent="0" marL="0">
              <a:buNone/>
            </a:pPr>
            <a:r>
              <a:rPr lang="en-US" sz="1600" b="1" dirty="0">
                <a:solidFill>
                  <a:schemeClr val="tx1"/>
                </a:solidFill>
              </a:rPr>
              <a:t>131.173.23.81</a:t>
            </a:r>
            <a:pPr indent="0" marL="0">
              <a:buNone/>
            </a:pPr>
            <a:r>
              <a:rPr lang="en-US" sz="1600" dirty="0">
                <a:solidFill>
                  <a:schemeClr val="tx1"/>
                </a:solidFill>
              </a:rPr>
              <a:t> in Osnabrück, and measures the round-trip time to each of them.</a:t>
            </a:r>
            <a:endParaRPr lang="en-US" sz="1600" dirty="0"/>
          </a:p>
        </p:txBody>
      </p:sp>
      <p:sp>
        <p:nvSpPr>
          <p:cNvPr id="4" name="card_28"/>
          <p:cNvSpPr/>
          <p:nvPr/>
        </p:nvSpPr>
        <p:spPr>
          <a:xfrm>
            <a:off x="548640" y="2286000"/>
            <a:ext cx="2560320" cy="2377440"/>
          </a:xfrm>
          <a:prstGeom prst="roundRect">
            <a:avLst>
              <a:gd name="adj" fmla="val 4615"/>
            </a:avLst>
          </a:prstGeom>
          <a:solidFill>
            <a:schemeClr val="bg2"/>
          </a:solidFill>
          <a:ln w="12700">
            <a:solidFill>
              <a:schemeClr val="bg2"/>
            </a:solidFill>
            <a:prstDash val="solid"/>
          </a:ln>
        </p:spPr>
      </p:sp>
      <p:sp>
        <p:nvSpPr>
          <p:cNvPr id="5" name="text_29"/>
          <p:cNvSpPr txBox="1"/>
          <p:nvPr/>
        </p:nvSpPr>
        <p:spPr>
          <a:xfrm>
            <a:off x="548640" y="2468880"/>
            <a:ext cx="2560320" cy="1005840"/>
          </a:xfrm>
          <a:prstGeom prst="rect">
            <a:avLst/>
          </a:prstGeom>
          <a:noFill/>
          <a:ln/>
        </p:spPr>
        <p:txBody>
          <a:bodyPr wrap="square" rtlCol="0" anchor="ctr"/>
          <a:lstStyle/>
          <a:p>
            <a:pPr algn="ctr" indent="0" marL="0">
              <a:buNone/>
            </a:pPr>
            <a:r>
              <a:rPr lang="en-US" sz="4800" b="1" dirty="0">
                <a:solidFill>
                  <a:schemeClr val="accent1"/>
                </a:solidFill>
                <a:latin typeface="Cambria" pitchFamily="34" charset="0"/>
                <a:ea typeface="Cambria" pitchFamily="34" charset="-122"/>
                <a:cs typeface="Cambria" pitchFamily="34" charset="-120"/>
              </a:rPr>
              <a:t>~6 min</a:t>
            </a:r>
            <a:endParaRPr lang="en-US" sz="4800" dirty="0"/>
          </a:p>
        </p:txBody>
      </p:sp>
      <p:sp>
        <p:nvSpPr>
          <p:cNvPr id="6" name="text_30"/>
          <p:cNvSpPr txBox="1"/>
          <p:nvPr/>
        </p:nvSpPr>
        <p:spPr>
          <a:xfrm>
            <a:off x="685800" y="3520440"/>
            <a:ext cx="2286000" cy="1005840"/>
          </a:xfrm>
          <a:prstGeom prst="rect">
            <a:avLst/>
          </a:prstGeom>
          <a:noFill/>
          <a:ln/>
        </p:spPr>
        <p:txBody>
          <a:bodyPr wrap="square" rtlCol="0" anchor="t"/>
          <a:lstStyle/>
          <a:p>
            <a:pPr algn="ctr" indent="0" marL="0">
              <a:buNone/>
            </a:pPr>
            <a:r>
              <a:rPr lang="en-US" sz="1500" dirty="0">
                <a:solidFill>
                  <a:schemeClr val="tx2"/>
                </a:solidFill>
              </a:rPr>
              <a:t>between two runs</a:t>
            </a:r>
            <a:endParaRPr lang="en-US" sz="1500" dirty="0"/>
          </a:p>
          <a:p>
            <a:pPr algn="ctr" indent="0" marL="0">
              <a:buNone/>
            </a:pPr>
            <a:r>
              <a:rPr lang="en-US" sz="1500" dirty="0">
                <a:solidFill>
                  <a:schemeClr val="tx2"/>
                </a:solidFill>
              </a:rPr>
              <a:t>(median 5.9 min in the data)</a:t>
            </a:r>
            <a:endParaRPr lang="en-US" sz="1500" dirty="0"/>
          </a:p>
        </p:txBody>
      </p:sp>
      <p:sp>
        <p:nvSpPr>
          <p:cNvPr id="7" name="card_31"/>
          <p:cNvSpPr/>
          <p:nvPr/>
        </p:nvSpPr>
        <p:spPr>
          <a:xfrm>
            <a:off x="3383280" y="2286000"/>
            <a:ext cx="2560320" cy="2377440"/>
          </a:xfrm>
          <a:prstGeom prst="roundRect">
            <a:avLst>
              <a:gd name="adj" fmla="val 4615"/>
            </a:avLst>
          </a:prstGeom>
          <a:solidFill>
            <a:schemeClr val="bg2"/>
          </a:solidFill>
          <a:ln w="12700">
            <a:solidFill>
              <a:schemeClr val="bg2"/>
            </a:solidFill>
            <a:prstDash val="solid"/>
          </a:ln>
        </p:spPr>
      </p:sp>
      <p:sp>
        <p:nvSpPr>
          <p:cNvPr id="8" name="text_32"/>
          <p:cNvSpPr txBox="1"/>
          <p:nvPr/>
        </p:nvSpPr>
        <p:spPr>
          <a:xfrm>
            <a:off x="3383280" y="2468880"/>
            <a:ext cx="2560320" cy="1005840"/>
          </a:xfrm>
          <a:prstGeom prst="rect">
            <a:avLst/>
          </a:prstGeom>
          <a:noFill/>
          <a:ln/>
        </p:spPr>
        <p:txBody>
          <a:bodyPr wrap="square" rtlCol="0" anchor="ctr"/>
          <a:lstStyle/>
          <a:p>
            <a:pPr algn="ctr" indent="0" marL="0">
              <a:buNone/>
            </a:pPr>
            <a:r>
              <a:rPr lang="en-US" sz="4800" b="1" dirty="0">
                <a:solidFill>
                  <a:schemeClr val="accent1"/>
                </a:solidFill>
                <a:latin typeface="Cambria" pitchFamily="34" charset="0"/>
                <a:ea typeface="Cambria" pitchFamily="34" charset="-122"/>
                <a:cs typeface="Cambria" pitchFamily="34" charset="-120"/>
              </a:rPr>
              <a:t>15</a:t>
            </a:r>
            <a:endParaRPr lang="en-US" sz="4800" dirty="0"/>
          </a:p>
        </p:txBody>
      </p:sp>
      <p:sp>
        <p:nvSpPr>
          <p:cNvPr id="9" name="text_33"/>
          <p:cNvSpPr txBox="1"/>
          <p:nvPr/>
        </p:nvSpPr>
        <p:spPr>
          <a:xfrm>
            <a:off x="3520440" y="3520440"/>
            <a:ext cx="2286000" cy="1005840"/>
          </a:xfrm>
          <a:prstGeom prst="rect">
            <a:avLst/>
          </a:prstGeom>
          <a:noFill/>
          <a:ln/>
        </p:spPr>
        <p:txBody>
          <a:bodyPr wrap="square" rtlCol="0" anchor="t"/>
          <a:lstStyle/>
          <a:p>
            <a:pPr algn="ctr" indent="0" marL="0">
              <a:buNone/>
            </a:pPr>
            <a:r>
              <a:rPr lang="en-US" sz="1500" dirty="0">
                <a:solidFill>
                  <a:schemeClr val="tx2"/>
                </a:solidFill>
              </a:rPr>
              <a:t>probe packets sent</a:t>
            </a:r>
            <a:endParaRPr lang="en-US" sz="1500" dirty="0"/>
          </a:p>
          <a:p>
            <a:pPr algn="ctr" indent="0" marL="0">
              <a:buNone/>
            </a:pPr>
            <a:r>
              <a:rPr lang="en-US" sz="1500" dirty="0">
                <a:solidFill>
                  <a:schemeClr val="tx2"/>
                </a:solidFill>
              </a:rPr>
              <a:t>to every hop per run</a:t>
            </a:r>
            <a:endParaRPr lang="en-US" sz="1500" dirty="0"/>
          </a:p>
        </p:txBody>
      </p:sp>
      <p:sp>
        <p:nvSpPr>
          <p:cNvPr id="10" name="card_34"/>
          <p:cNvSpPr/>
          <p:nvPr/>
        </p:nvSpPr>
        <p:spPr>
          <a:xfrm>
            <a:off x="6217920" y="2286000"/>
            <a:ext cx="2560320" cy="2377440"/>
          </a:xfrm>
          <a:prstGeom prst="roundRect">
            <a:avLst>
              <a:gd name="adj" fmla="val 4615"/>
            </a:avLst>
          </a:prstGeom>
          <a:solidFill>
            <a:schemeClr val="bg2"/>
          </a:solidFill>
          <a:ln w="12700">
            <a:solidFill>
              <a:schemeClr val="bg2"/>
            </a:solidFill>
            <a:prstDash val="solid"/>
          </a:ln>
        </p:spPr>
      </p:sp>
      <p:sp>
        <p:nvSpPr>
          <p:cNvPr id="11" name="text_35"/>
          <p:cNvSpPr txBox="1"/>
          <p:nvPr/>
        </p:nvSpPr>
        <p:spPr>
          <a:xfrm>
            <a:off x="6217920" y="2468880"/>
            <a:ext cx="2560320" cy="1005840"/>
          </a:xfrm>
          <a:prstGeom prst="rect">
            <a:avLst/>
          </a:prstGeom>
          <a:noFill/>
          <a:ln/>
        </p:spPr>
        <p:txBody>
          <a:bodyPr wrap="square" rtlCol="0" anchor="ctr"/>
          <a:lstStyle/>
          <a:p>
            <a:pPr algn="ctr" indent="0" marL="0">
              <a:buNone/>
            </a:pPr>
            <a:r>
              <a:rPr lang="en-US" sz="4800" b="1" dirty="0">
                <a:solidFill>
                  <a:schemeClr val="accent1"/>
                </a:solidFill>
                <a:latin typeface="Cambria" pitchFamily="34" charset="0"/>
                <a:ea typeface="Cambria" pitchFamily="34" charset="-122"/>
                <a:cs typeface="Cambria" pitchFamily="34" charset="-120"/>
              </a:rPr>
              <a:t>13</a:t>
            </a:r>
            <a:endParaRPr lang="en-US" sz="4800" dirty="0"/>
          </a:p>
        </p:txBody>
      </p:sp>
      <p:sp>
        <p:nvSpPr>
          <p:cNvPr id="12" name="text_36"/>
          <p:cNvSpPr txBox="1"/>
          <p:nvPr/>
        </p:nvSpPr>
        <p:spPr>
          <a:xfrm>
            <a:off x="6355080" y="3520440"/>
            <a:ext cx="2286000" cy="1005840"/>
          </a:xfrm>
          <a:prstGeom prst="rect">
            <a:avLst/>
          </a:prstGeom>
          <a:noFill/>
          <a:ln/>
        </p:spPr>
        <p:txBody>
          <a:bodyPr wrap="square" rtlCol="0" anchor="t"/>
          <a:lstStyle/>
          <a:p>
            <a:pPr algn="ctr" indent="0" marL="0">
              <a:buNone/>
            </a:pPr>
            <a:r>
              <a:rPr lang="en-US" sz="1500" dirty="0">
                <a:solidFill>
                  <a:schemeClr val="tx2"/>
                </a:solidFill>
              </a:rPr>
              <a:t>hops on the Osnabrück path</a:t>
            </a:r>
            <a:endParaRPr lang="en-US" sz="1500" dirty="0"/>
          </a:p>
          <a:p>
            <a:pPr algn="ctr" indent="0" marL="0">
              <a:buNone/>
            </a:pPr>
            <a:r>
              <a:rPr lang="en-US" sz="1500" dirty="0">
                <a:solidFill>
                  <a:schemeClr val="tx2"/>
                </a:solidFill>
              </a:rPr>
              <a:t>= 13 rows per run</a:t>
            </a:r>
            <a:endParaRPr lang="en-US" sz="1500" dirty="0"/>
          </a:p>
        </p:txBody>
      </p:sp>
      <p:sp>
        <p:nvSpPr>
          <p:cNvPr id="13" name="card_37"/>
          <p:cNvSpPr/>
          <p:nvPr/>
        </p:nvSpPr>
        <p:spPr>
          <a:xfrm>
            <a:off x="9052560" y="2286000"/>
            <a:ext cx="2560320" cy="2377440"/>
          </a:xfrm>
          <a:prstGeom prst="roundRect">
            <a:avLst>
              <a:gd name="adj" fmla="val 4615"/>
            </a:avLst>
          </a:prstGeom>
          <a:solidFill>
            <a:schemeClr val="bg2"/>
          </a:solidFill>
          <a:ln w="12700">
            <a:solidFill>
              <a:schemeClr val="bg2"/>
            </a:solidFill>
            <a:prstDash val="solid"/>
          </a:ln>
        </p:spPr>
      </p:sp>
      <p:sp>
        <p:nvSpPr>
          <p:cNvPr id="14" name="text_38"/>
          <p:cNvSpPr txBox="1"/>
          <p:nvPr/>
        </p:nvSpPr>
        <p:spPr>
          <a:xfrm>
            <a:off x="9052560" y="2468880"/>
            <a:ext cx="2560320" cy="1005840"/>
          </a:xfrm>
          <a:prstGeom prst="rect">
            <a:avLst/>
          </a:prstGeom>
          <a:noFill/>
          <a:ln/>
        </p:spPr>
        <p:txBody>
          <a:bodyPr wrap="square" rtlCol="0" anchor="ctr"/>
          <a:lstStyle/>
          <a:p>
            <a:pPr algn="ctr" indent="0" marL="0">
              <a:buNone/>
            </a:pPr>
            <a:r>
              <a:rPr lang="en-US" sz="4800" b="1" dirty="0">
                <a:solidFill>
                  <a:schemeClr val="accent2"/>
                </a:solidFill>
                <a:latin typeface="Cambria" pitchFamily="34" charset="0"/>
                <a:ea typeface="Cambria" pitchFamily="34" charset="-122"/>
                <a:cs typeface="Cambria" pitchFamily="34" charset="-120"/>
              </a:rPr>
              <a:t>hop 1</a:t>
            </a:r>
            <a:endParaRPr lang="en-US" sz="4800" dirty="0"/>
          </a:p>
        </p:txBody>
      </p:sp>
      <p:sp>
        <p:nvSpPr>
          <p:cNvPr id="15" name="text_39"/>
          <p:cNvSpPr txBox="1"/>
          <p:nvPr/>
        </p:nvSpPr>
        <p:spPr>
          <a:xfrm>
            <a:off x="9189720" y="3520440"/>
            <a:ext cx="2286000" cy="1005840"/>
          </a:xfrm>
          <a:prstGeom prst="rect">
            <a:avLst/>
          </a:prstGeom>
          <a:noFill/>
          <a:ln/>
        </p:spPr>
        <p:txBody>
          <a:bodyPr wrap="square" rtlCol="0" anchor="t"/>
          <a:lstStyle/>
          <a:p>
            <a:pPr algn="ctr" indent="0" marL="0">
              <a:buNone/>
            </a:pPr>
            <a:r>
              <a:rPr lang="en-US" sz="1500" dirty="0">
                <a:solidFill>
                  <a:schemeClr val="tx2"/>
                </a:solidFill>
              </a:rPr>
              <a:t>100.64.0.1 = the only</a:t>
            </a:r>
            <a:endParaRPr lang="en-US" sz="1500" dirty="0"/>
          </a:p>
          <a:p>
            <a:pPr algn="ctr" indent="0" marL="0">
              <a:buNone/>
            </a:pPr>
            <a:r>
              <a:rPr lang="en-US" sz="1500" dirty="0">
                <a:solidFill>
                  <a:schemeClr val="tx2"/>
                </a:solidFill>
              </a:rPr>
              <a:t>row used in this study</a:t>
            </a:r>
            <a:endParaRPr lang="en-US" sz="1500" dirty="0"/>
          </a:p>
        </p:txBody>
      </p:sp>
      <p:sp>
        <p:nvSpPr>
          <p:cNvPr id="16" name="text_40"/>
          <p:cNvSpPr txBox="1"/>
          <p:nvPr/>
        </p:nvSpPr>
        <p:spPr>
          <a:xfrm>
            <a:off x="548640" y="5029200"/>
            <a:ext cx="11064240" cy="548640"/>
          </a:xfrm>
          <a:prstGeom prst="rect">
            <a:avLst/>
          </a:prstGeom>
          <a:noFill/>
          <a:ln/>
        </p:spPr>
        <p:txBody>
          <a:bodyPr wrap="square" rtlCol="0" anchor="t"/>
          <a:lstStyle/>
          <a:p>
            <a:pPr indent="0" marL="0">
              <a:buNone/>
            </a:pPr>
            <a:r>
              <a:rPr lang="en-US" sz="1600" i="1" dirty="0">
                <a:solidFill>
                  <a:schemeClr val="accent3"/>
                </a:solidFill>
              </a:rPr>
              <a:t>The RTT columns of a row are statistics over the 15 probes to that hop (mean, best, worst, standard deviation).</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The Osnabrück file: first 26 rows = 2 runs × 13 hops</a:t>
            </a:r>
            <a:endParaRPr lang="en-US" sz="3200" dirty="0"/>
          </a:p>
        </p:txBody>
      </p:sp>
      <p:graphicFrame>
        <p:nvGraphicFramePr>
          <p:cNvPr id="5" name="table_41"/>
          <p:cNvGraphicFramePr>
            <a:graphicFrameLocks noGrp="1"/>
          </p:cNvGraphicFramePr>
          <p:nvPr>
            <p:extLst>
              <p:ext uri="{D42A27DB-BD31-4B8C-83A1-F6EECF244321}">
                <p14:modId xmlns:p14="http://schemas.microsoft.com/office/powerpoint/2010/main" val="1579011935"/>
              </p:ext>
            </p:extLst>
          </p:nvPr>
        </p:nvGraphicFramePr>
        <p:xfrm>
          <a:off x="548640" y="1188720"/>
          <a:ext cx="8412480" cy="914400"/>
        </p:xfrm>
        <a:graphic>
          <a:graphicData uri="http://schemas.openxmlformats.org/drawingml/2006/table">
            <a:tbl>
              <a:tblPr/>
              <a:tblGrid>
                <a:gridCol w="457200"/>
                <a:gridCol w="914400"/>
                <a:gridCol w="411480"/>
                <a:gridCol w="3063240"/>
                <a:gridCol w="868680"/>
                <a:gridCol w="640080"/>
                <a:gridCol w="502920"/>
                <a:gridCol w="548640"/>
                <a:gridCol w="502920"/>
                <a:gridCol w="502920"/>
              </a:tblGrid>
              <a:tr h="187452">
                <a:tc>
                  <a:txBody>
                    <a:bodyPr/>
                    <a:lstStyle/>
                    <a:p>
                      <a:pPr indent="0" marL="0">
                        <a:buNone/>
                      </a:pPr>
                      <a:r>
                        <a:rPr lang="en-US" sz="1000" b="1" dirty="0">
                          <a:solidFill>
                            <a:srgbClr val="FFFFFF"/>
                          </a:solidFill>
                        </a:rPr>
                        <a:t>Run</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rPr>
                        <a:t>Start (UTC)</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rPr>
                        <a:t>hop</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rPr>
                        <a:t>hop_id</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rPr>
                        <a:t>asn</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rPr>
                        <a:t>loss %</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rPr>
                        <a:t>sent</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rPr>
                        <a:t>avg</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rPr>
                        <a:t>best</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rPr>
                        <a:t>worst</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14213D"/>
                    </a:solidFill>
                  </a:tcPr>
                </a:tc>
              </a:tr>
              <a:tr h="187452">
                <a:tc>
                  <a:txBody>
                    <a:bodyPr/>
                    <a:lstStyle/>
                    <a:p>
                      <a:pPr indent="0" marL="0">
                        <a:buNone/>
                      </a:pPr>
                      <a:r>
                        <a:rPr lang="en-US" sz="1000" b="1" dirty="0">
                          <a:solidFill>
                            <a:schemeClr val="tx1"/>
                          </a:solidFill>
                        </a:rPr>
                        <a:t>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2A541"/>
                    </a:solidFill>
                  </a:tcPr>
                </a:tc>
                <a:tc>
                  <a:txBody>
                    <a:bodyPr/>
                    <a:lstStyle/>
                    <a:p>
                      <a:pPr indent="0" marL="0">
                        <a:buNone/>
                      </a:pPr>
                      <a:r>
                        <a:rPr lang="en-US" sz="1000" b="1" dirty="0">
                          <a:solidFill>
                            <a:schemeClr val="tx1"/>
                          </a:solidFill>
                        </a:rPr>
                        <a:t>15:13:03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2A541"/>
                    </a:solidFill>
                  </a:tcPr>
                </a:tc>
                <a:tc>
                  <a:txBody>
                    <a:bodyPr/>
                    <a:lstStyle/>
                    <a:p>
                      <a:pPr indent="0" marL="0">
                        <a:buNone/>
                      </a:pPr>
                      <a:r>
                        <a:rPr lang="en-US" sz="1000" b="1" dirty="0">
                          <a:solidFill>
                            <a:schemeClr val="tx1"/>
                          </a:solidFill>
                        </a:rPr>
                        <a:t>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2A541"/>
                    </a:solidFill>
                  </a:tcPr>
                </a:tc>
                <a:tc>
                  <a:txBody>
                    <a:bodyPr/>
                    <a:lstStyle/>
                    <a:p>
                      <a:pPr indent="0" marL="0">
                        <a:buNone/>
                      </a:pPr>
                      <a:r>
                        <a:rPr lang="en-US" sz="1000" b="1" dirty="0">
                          <a:solidFill>
                            <a:schemeClr val="tx1"/>
                          </a:solidFill>
                        </a:rPr>
                        <a:t>100.64.0.1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2A541"/>
                    </a:solidFill>
                  </a:tcPr>
                </a:tc>
                <a:tc>
                  <a:txBody>
                    <a:bodyPr/>
                    <a:lstStyle/>
                    <a:p>
                      <a:pPr indent="0" marL="0">
                        <a:buNone/>
                      </a:pPr>
                      <a:r>
                        <a:rPr lang="en-US" sz="1000" b="1" dirty="0">
                          <a:solidFill>
                            <a:schemeClr val="tx1"/>
                          </a:solidFill>
                        </a:rPr>
                        <a:t>AS???</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2A541"/>
                    </a:solidFill>
                  </a:tcPr>
                </a:tc>
                <a:tc>
                  <a:txBody>
                    <a:bodyPr/>
                    <a:lstStyle/>
                    <a:p>
                      <a:pPr indent="0" marL="0">
                        <a:buNone/>
                      </a:pPr>
                      <a:r>
                        <a:rPr lang="en-US" sz="1000" b="1"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2A541"/>
                    </a:solidFill>
                  </a:tcPr>
                </a:tc>
                <a:tc>
                  <a:txBody>
                    <a:bodyPr/>
                    <a:lstStyle/>
                    <a:p>
                      <a:pPr indent="0" marL="0">
                        <a:buNone/>
                      </a:pPr>
                      <a:r>
                        <a:rPr lang="en-US" sz="1000" b="1"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2A541"/>
                    </a:solidFill>
                  </a:tcPr>
                </a:tc>
                <a:tc>
                  <a:txBody>
                    <a:bodyPr/>
                    <a:lstStyle/>
                    <a:p>
                      <a:pPr indent="0" marL="0">
                        <a:buNone/>
                      </a:pPr>
                      <a:r>
                        <a:rPr lang="en-US" sz="1000" b="1" dirty="0">
                          <a:solidFill>
                            <a:schemeClr val="tx1"/>
                          </a:solidFill>
                        </a:rPr>
                        <a:t>29.35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2A541"/>
                    </a:solidFill>
                  </a:tcPr>
                </a:tc>
                <a:tc>
                  <a:txBody>
                    <a:bodyPr/>
                    <a:lstStyle/>
                    <a:p>
                      <a:pPr indent="0" marL="0">
                        <a:buNone/>
                      </a:pPr>
                      <a:r>
                        <a:rPr lang="en-US" sz="1000" b="1" dirty="0">
                          <a:solidFill>
                            <a:schemeClr val="tx1"/>
                          </a:solidFill>
                        </a:rPr>
                        <a:t>18.65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2A541"/>
                    </a:solidFill>
                  </a:tcPr>
                </a:tc>
                <a:tc>
                  <a:txBody>
                    <a:bodyPr/>
                    <a:lstStyle/>
                    <a:p>
                      <a:pPr indent="0" marL="0">
                        <a:buNone/>
                      </a:pPr>
                      <a:r>
                        <a:rPr lang="en-US" sz="1000" b="1" dirty="0">
                          <a:solidFill>
                            <a:schemeClr val="tx1"/>
                          </a:solidFill>
                        </a:rPr>
                        <a:t>49.82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2A541"/>
                    </a:solidFill>
                  </a:tcPr>
                </a:tc>
              </a:tr>
              <a:tr h="187452">
                <a:tc>
                  <a:txBody>
                    <a:bodyPr/>
                    <a:lstStyle/>
                    <a:p>
                      <a:pPr indent="0" marL="0">
                        <a:buNone/>
                      </a:pPr>
                      <a:r>
                        <a:rPr lang="en-US" sz="1000" dirty="0">
                          <a:solidFill>
                            <a:schemeClr val="tx1"/>
                          </a:solidFill>
                        </a:rPr>
                        <a:t>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15:13:03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172.16.250.140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AS???</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29.82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23.23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44.19</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r>
              <a:tr h="187452">
                <a:tc>
                  <a:txBody>
                    <a:bodyPr/>
                    <a:lstStyle/>
                    <a:p>
                      <a:pPr indent="0" marL="0">
                        <a:buNone/>
                      </a:pPr>
                      <a:r>
                        <a:rPr lang="en-US" sz="1000" dirty="0">
                          <a:solidFill>
                            <a:schemeClr val="tx1"/>
                          </a:solidFill>
                        </a:rPr>
                        <a:t>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15:13:03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206.224.65.194</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AS14593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26.19</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19.62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34.51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15:13:03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4</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206.224.65.178</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AS14593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28.36</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18.75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35.27</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r>
              <a:tr h="187452">
                <a:tc>
                  <a:txBody>
                    <a:bodyPr/>
                    <a:lstStyle/>
                    <a:p>
                      <a:pPr indent="0" marL="0">
                        <a:buNone/>
                      </a:pPr>
                      <a:r>
                        <a:rPr lang="en-US" sz="1000" dirty="0">
                          <a:solidFill>
                            <a:schemeClr val="tx1"/>
                          </a:solidFill>
                        </a:rPr>
                        <a:t>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15:13:03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ffm-b11-link.ip.twelve99.net</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AS1299</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28.61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19.61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38.33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15:13:03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6</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AS???</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100.0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r>
              <a:tr h="187452">
                <a:tc>
                  <a:txBody>
                    <a:bodyPr/>
                    <a:lstStyle/>
                    <a:p>
                      <a:pPr indent="0" marL="0">
                        <a:buNone/>
                      </a:pPr>
                      <a:r>
                        <a:rPr lang="en-US" sz="1000" dirty="0">
                          <a:solidFill>
                            <a:schemeClr val="tx1"/>
                          </a:solidFill>
                        </a:rPr>
                        <a:t>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15:13:03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7</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hbg-bb2-link.ip.twelve99.net</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AS1299</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26.67</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38.88</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29.08</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53.47</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15:13:03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8</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hbg-b2-link.ip.twelve99.net</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AS1299</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38.74</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25.39</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51.86</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r>
              <a:tr h="187452">
                <a:tc>
                  <a:txBody>
                    <a:bodyPr/>
                    <a:lstStyle/>
                    <a:p>
                      <a:pPr indent="0" marL="0">
                        <a:buNone/>
                      </a:pPr>
                      <a:r>
                        <a:rPr lang="en-US" sz="1000" dirty="0">
                          <a:solidFill>
                            <a:schemeClr val="tx1"/>
                          </a:solidFill>
                        </a:rPr>
                        <a:t>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15:13:03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9</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dfn-ic-373396.ip.twelve99-cust.net</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AS1299</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44.08</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35.05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68.46</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15:13:03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cr-ham1-be8.x-win.dfn.de</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AS680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51.33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40.91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67.27</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r>
              <a:tr h="187452">
                <a:tc>
                  <a:txBody>
                    <a:bodyPr/>
                    <a:lstStyle/>
                    <a:p>
                      <a:pPr indent="0" marL="0">
                        <a:buNone/>
                      </a:pPr>
                      <a:r>
                        <a:rPr lang="en-US" sz="1000" dirty="0">
                          <a:solidFill>
                            <a:schemeClr val="tx1"/>
                          </a:solidFill>
                        </a:rPr>
                        <a:t>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15:13:03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kr-uniosn11.x-win.dfn.de</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AS680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61.4</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49.05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85.04</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15:13:03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r0001g94rB05-xe0-0-7-u91.net.uni-osnabrueck.de</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AS680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55.72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47.01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67.82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r>
              <a:tr h="187452">
                <a:tc>
                  <a:txBody>
                    <a:bodyPr/>
                    <a:lstStyle/>
                    <a:p>
                      <a:pPr indent="0" marL="0">
                        <a:buNone/>
                      </a:pPr>
                      <a:r>
                        <a:rPr lang="en-US" sz="1000" dirty="0">
                          <a:solidFill>
                            <a:schemeClr val="tx1"/>
                          </a:solidFill>
                        </a:rPr>
                        <a:t>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15:13:03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vm952.rz.uni-osnabrueck.de</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AS680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57.09</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45.41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70.85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187452">
                <a:tc>
                  <a:txBody>
                    <a:bodyPr/>
                    <a:lstStyle/>
                    <a:p>
                      <a:pPr indent="0" marL="0">
                        <a:buNone/>
                      </a:pPr>
                      <a:r>
                        <a:rPr lang="en-US" sz="1000" b="1" dirty="0">
                          <a:solidFill>
                            <a:schemeClr val="tx1"/>
                          </a:solidFill>
                        </a:rPr>
                        <a:t>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2A541"/>
                    </a:solidFill>
                  </a:tcPr>
                </a:tc>
                <a:tc>
                  <a:txBody>
                    <a:bodyPr/>
                    <a:lstStyle/>
                    <a:p>
                      <a:pPr indent="0" marL="0">
                        <a:buNone/>
                      </a:pPr>
                      <a:r>
                        <a:rPr lang="en-US" sz="1000" b="1" dirty="0">
                          <a:solidFill>
                            <a:schemeClr val="tx1"/>
                          </a:solidFill>
                        </a:rPr>
                        <a:t>15:18:53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2A541"/>
                    </a:solidFill>
                  </a:tcPr>
                </a:tc>
                <a:tc>
                  <a:txBody>
                    <a:bodyPr/>
                    <a:lstStyle/>
                    <a:p>
                      <a:pPr indent="0" marL="0">
                        <a:buNone/>
                      </a:pPr>
                      <a:r>
                        <a:rPr lang="en-US" sz="1000" b="1" dirty="0">
                          <a:solidFill>
                            <a:schemeClr val="tx1"/>
                          </a:solidFill>
                        </a:rPr>
                        <a:t>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2A541"/>
                    </a:solidFill>
                  </a:tcPr>
                </a:tc>
                <a:tc>
                  <a:txBody>
                    <a:bodyPr/>
                    <a:lstStyle/>
                    <a:p>
                      <a:pPr indent="0" marL="0">
                        <a:buNone/>
                      </a:pPr>
                      <a:r>
                        <a:rPr lang="en-US" sz="1000" b="1" dirty="0">
                          <a:solidFill>
                            <a:schemeClr val="tx1"/>
                          </a:solidFill>
                        </a:rPr>
                        <a:t>100.64.0.1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2A541"/>
                    </a:solidFill>
                  </a:tcPr>
                </a:tc>
                <a:tc>
                  <a:txBody>
                    <a:bodyPr/>
                    <a:lstStyle/>
                    <a:p>
                      <a:pPr indent="0" marL="0">
                        <a:buNone/>
                      </a:pPr>
                      <a:r>
                        <a:rPr lang="en-US" sz="1000" b="1" dirty="0">
                          <a:solidFill>
                            <a:schemeClr val="tx1"/>
                          </a:solidFill>
                        </a:rPr>
                        <a:t>AS???</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2A541"/>
                    </a:solidFill>
                  </a:tcPr>
                </a:tc>
                <a:tc>
                  <a:txBody>
                    <a:bodyPr/>
                    <a:lstStyle/>
                    <a:p>
                      <a:pPr indent="0" marL="0">
                        <a:buNone/>
                      </a:pPr>
                      <a:r>
                        <a:rPr lang="en-US" sz="1000" b="1"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2A541"/>
                    </a:solidFill>
                  </a:tcPr>
                </a:tc>
                <a:tc>
                  <a:txBody>
                    <a:bodyPr/>
                    <a:lstStyle/>
                    <a:p>
                      <a:pPr indent="0" marL="0">
                        <a:buNone/>
                      </a:pPr>
                      <a:r>
                        <a:rPr lang="en-US" sz="1000" b="1"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2A541"/>
                    </a:solidFill>
                  </a:tcPr>
                </a:tc>
                <a:tc>
                  <a:txBody>
                    <a:bodyPr/>
                    <a:lstStyle/>
                    <a:p>
                      <a:pPr indent="0" marL="0">
                        <a:buNone/>
                      </a:pPr>
                      <a:r>
                        <a:rPr lang="en-US" sz="1000" b="1" dirty="0">
                          <a:solidFill>
                            <a:schemeClr val="tx1"/>
                          </a:solidFill>
                        </a:rPr>
                        <a:t>31.88</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2A541"/>
                    </a:solidFill>
                  </a:tcPr>
                </a:tc>
                <a:tc>
                  <a:txBody>
                    <a:bodyPr/>
                    <a:lstStyle/>
                    <a:p>
                      <a:pPr indent="0" marL="0">
                        <a:buNone/>
                      </a:pPr>
                      <a:r>
                        <a:rPr lang="en-US" sz="1000" b="1" dirty="0">
                          <a:solidFill>
                            <a:schemeClr val="tx1"/>
                          </a:solidFill>
                        </a:rPr>
                        <a:t>19.88</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2A541"/>
                    </a:solidFill>
                  </a:tcPr>
                </a:tc>
                <a:tc>
                  <a:txBody>
                    <a:bodyPr/>
                    <a:lstStyle/>
                    <a:p>
                      <a:pPr indent="0" marL="0">
                        <a:buNone/>
                      </a:pPr>
                      <a:r>
                        <a:rPr lang="en-US" sz="1000" b="1" dirty="0">
                          <a:solidFill>
                            <a:schemeClr val="tx1"/>
                          </a:solidFill>
                        </a:rPr>
                        <a:t>41.64</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2A541"/>
                    </a:solidFill>
                  </a:tcPr>
                </a:tc>
              </a:tr>
              <a:tr h="187452">
                <a:tc>
                  <a:txBody>
                    <a:bodyPr/>
                    <a:lstStyle/>
                    <a:p>
                      <a:pPr indent="0" marL="0">
                        <a:buNone/>
                      </a:pPr>
                      <a:r>
                        <a:rPr lang="en-US" sz="1000" dirty="0">
                          <a:solidFill>
                            <a:schemeClr val="tx1"/>
                          </a:solidFill>
                        </a:rPr>
                        <a:t>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15:18:53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172.16.250.140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AS???</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30.55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19.5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40.56</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15:18:53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206.224.65.194</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AS14593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31.69</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23.62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43.49</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r>
              <a:tr h="187452">
                <a:tc>
                  <a:txBody>
                    <a:bodyPr/>
                    <a:lstStyle/>
                    <a:p>
                      <a:pPr indent="0" marL="0">
                        <a:buNone/>
                      </a:pPr>
                      <a:r>
                        <a:rPr lang="en-US" sz="1000" dirty="0">
                          <a:solidFill>
                            <a:schemeClr val="tx1"/>
                          </a:solidFill>
                        </a:rPr>
                        <a:t>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15:18:53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4</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206.224.65.178</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AS14593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31.28</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18.71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37.93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15:18:53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ffm-b11-link.ip.twelve99.net</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AS1299</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34.51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23.77</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42.72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r>
              <a:tr h="187452">
                <a:tc>
                  <a:txBody>
                    <a:bodyPr/>
                    <a:lstStyle/>
                    <a:p>
                      <a:pPr indent="0" marL="0">
                        <a:buNone/>
                      </a:pPr>
                      <a:r>
                        <a:rPr lang="en-US" sz="1000" dirty="0">
                          <a:solidFill>
                            <a:schemeClr val="tx1"/>
                          </a:solidFill>
                        </a:rPr>
                        <a:t>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15:18:53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6</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ffm-bb2-link.ip.twelve99.net</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AS1299</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66.67</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36.74</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31.36</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42.71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15:18:53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7</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hbg-bb2-link.ip.twelve99.net</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AS1299</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13.33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36.7</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30.52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46.5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r>
              <a:tr h="187452">
                <a:tc>
                  <a:txBody>
                    <a:bodyPr/>
                    <a:lstStyle/>
                    <a:p>
                      <a:pPr indent="0" marL="0">
                        <a:buNone/>
                      </a:pPr>
                      <a:r>
                        <a:rPr lang="en-US" sz="1000" dirty="0">
                          <a:solidFill>
                            <a:schemeClr val="tx1"/>
                          </a:solidFill>
                        </a:rPr>
                        <a:t>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15:18:53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8</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hbg-b2-link.ip.twelve99.net</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AS1299</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36.56</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30.53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43.75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15:18:53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9</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dfn-ic-373396.ip.twelve99-cust.net</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AS1299</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48.82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38.18</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64.6</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r>
              <a:tr h="187452">
                <a:tc>
                  <a:txBody>
                    <a:bodyPr/>
                    <a:lstStyle/>
                    <a:p>
                      <a:pPr indent="0" marL="0">
                        <a:buNone/>
                      </a:pPr>
                      <a:r>
                        <a:rPr lang="en-US" sz="1000" dirty="0">
                          <a:solidFill>
                            <a:schemeClr val="tx1"/>
                          </a:solidFill>
                        </a:rPr>
                        <a:t>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15:18:53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cr-ham1-be8.x-win.dfn.de</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AS680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52.26</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42.37</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61.55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15:18:53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11</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kr-uniosn11.x-win.dfn.de</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AS680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59.14</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51.39</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68.33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r>
              <a:tr h="187452">
                <a:tc>
                  <a:txBody>
                    <a:bodyPr/>
                    <a:lstStyle/>
                    <a:p>
                      <a:pPr indent="0" marL="0">
                        <a:buNone/>
                      </a:pPr>
                      <a:r>
                        <a:rPr lang="en-US" sz="1000" dirty="0">
                          <a:solidFill>
                            <a:schemeClr val="tx1"/>
                          </a:solidFill>
                        </a:rPr>
                        <a:t>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15:18:53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r0001g94rB05-xe0-0-7-u91.net.uni-osnabrueck.de</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AS680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61.77</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47.78</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91.44</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187452">
                <a:tc>
                  <a:txBody>
                    <a:bodyPr/>
                    <a:lstStyle/>
                    <a:p>
                      <a:pPr indent="0" marL="0">
                        <a:buNone/>
                      </a:pPr>
                      <a:r>
                        <a:rPr lang="en-US" sz="1000" dirty="0">
                          <a:solidFill>
                            <a:schemeClr val="tx1"/>
                          </a:solidFill>
                        </a:rPr>
                        <a:t>2</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15:18:53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13</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vm952.rz.uni-osnabrueck.de</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AS680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0.0</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15</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59.59</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54.69</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c>
                  <a:txBody>
                    <a:bodyPr/>
                    <a:lstStyle/>
                    <a:p>
                      <a:pPr indent="0" marL="0">
                        <a:buNone/>
                      </a:pPr>
                      <a:r>
                        <a:rPr lang="en-US" sz="1000" dirty="0">
                          <a:solidFill>
                            <a:schemeClr val="tx1"/>
                          </a:solidFill>
                        </a:rPr>
                        <a:t>72.88</a:t>
                      </a:r>
                      <a:endParaRPr lang="en-US" sz="1000" dirty="0"/>
                    </a:p>
                  </a:txBody>
                  <a:tcPr marL="45720" marR="45720" marT="0" marB="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F7"/>
                    </a:solidFill>
                  </a:tcPr>
                </a:tc>
              </a:tr>
            </a:tbl>
          </a:graphicData>
        </a:graphic>
      </p:graphicFrame>
      <p:sp>
        <p:nvSpPr>
          <p:cNvPr id="4" name="card_42"/>
          <p:cNvSpPr/>
          <p:nvPr/>
        </p:nvSpPr>
        <p:spPr>
          <a:xfrm>
            <a:off x="9235440" y="1188720"/>
            <a:ext cx="2377440" cy="5074920"/>
          </a:xfrm>
          <a:prstGeom prst="roundRect">
            <a:avLst>
              <a:gd name="adj" fmla="val 4615"/>
            </a:avLst>
          </a:prstGeom>
          <a:solidFill>
            <a:schemeClr val="bg2"/>
          </a:solidFill>
          <a:ln w="12700">
            <a:solidFill>
              <a:schemeClr val="bg2"/>
            </a:solidFill>
            <a:prstDash val="solid"/>
          </a:ln>
        </p:spPr>
      </p:sp>
      <p:sp>
        <p:nvSpPr>
          <p:cNvPr id="5" name="text_43"/>
          <p:cNvSpPr txBox="1"/>
          <p:nvPr/>
        </p:nvSpPr>
        <p:spPr>
          <a:xfrm>
            <a:off x="9372600" y="1325880"/>
            <a:ext cx="2148840" cy="4846320"/>
          </a:xfrm>
          <a:prstGeom prst="rect">
            <a:avLst/>
          </a:prstGeom>
          <a:noFill/>
          <a:ln/>
        </p:spPr>
        <p:txBody>
          <a:bodyPr wrap="square" rtlCol="0" anchor="t"/>
          <a:lstStyle/>
          <a:p>
            <a:pPr marL="342900" indent="-342900">
              <a:spcAft>
                <a:spcPts val="600"/>
              </a:spcAft>
              <a:buSzPct val="100000"/>
              <a:buChar char="•"/>
            </a:pPr>
            <a:r>
              <a:rPr lang="en-US" sz="1400" dirty="0">
                <a:solidFill>
                  <a:schemeClr val="tx1"/>
                </a:solidFill>
              </a:rPr>
              <a:t>Each run writes one row per hop: 13 rows</a:t>
            </a:r>
            <a:endParaRPr lang="en-US" sz="1600" dirty="0"/>
          </a:p>
          <a:p>
            <a:pPr marL="342900" indent="-342900">
              <a:spcAft>
                <a:spcPts val="600"/>
              </a:spcAft>
              <a:buSzPct val="100000"/>
              <a:buChar char="•"/>
            </a:pPr>
            <a:r>
              <a:rPr lang="en-US" sz="1400" dirty="0">
                <a:solidFill>
                  <a:schemeClr val="tx1"/>
                </a:solidFill>
              </a:rPr>
              <a:t>Runs start 5 min 50 s apart</a:t>
            </a:r>
            <a:endParaRPr lang="en-US" sz="1600" dirty="0"/>
          </a:p>
          <a:p>
            <a:pPr marL="342900" indent="-342900">
              <a:spcAft>
                <a:spcPts val="600"/>
              </a:spcAft>
              <a:buSzPct val="100000"/>
              <a:buChar char="•"/>
            </a:pPr>
            <a:r>
              <a:rPr lang="en-US" sz="1400" dirty="0">
                <a:solidFill>
                  <a:schemeClr val="tx1"/>
                </a:solidFill>
              </a:rPr>
              <a:t>Highlighted: hop 1 (100.64.0.1), the bent-pipe row we keep</a:t>
            </a:r>
            <a:endParaRPr lang="en-US" sz="1600" dirty="0"/>
          </a:p>
          <a:p>
            <a:pPr marL="342900" indent="-342900">
              <a:spcAft>
                <a:spcPts val="600"/>
              </a:spcAft>
              <a:buSzPct val="100000"/>
              <a:buChar char="•"/>
            </a:pPr>
            <a:r>
              <a:rPr lang="en-US" sz="1400" dirty="0">
                <a:solidFill>
                  <a:schemeClr val="tx1"/>
                </a:solidFill>
              </a:rPr>
              <a:t>Not shown: site_name, target, ip_protocol (constant), timestamp_end, ping_stddev, hops</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15 columns per row</a:t>
            </a:r>
            <a:endParaRPr lang="en-US" sz="3200" dirty="0"/>
          </a:p>
        </p:txBody>
      </p:sp>
      <p:sp>
        <p:nvSpPr>
          <p:cNvPr id="3" name="card_44"/>
          <p:cNvSpPr/>
          <p:nvPr/>
        </p:nvSpPr>
        <p:spPr>
          <a:xfrm>
            <a:off x="548640" y="1280160"/>
            <a:ext cx="5394960" cy="548640"/>
          </a:xfrm>
          <a:prstGeom prst="roundRect">
            <a:avLst>
              <a:gd name="adj" fmla="val 20000"/>
            </a:avLst>
          </a:prstGeom>
          <a:solidFill>
            <a:schemeClr val="bg2"/>
          </a:solidFill>
          <a:ln w="12700">
            <a:solidFill>
              <a:schemeClr val="bg2"/>
            </a:solidFill>
            <a:prstDash val="solid"/>
          </a:ln>
        </p:spPr>
      </p:sp>
      <p:sp>
        <p:nvSpPr>
          <p:cNvPr id="4" name="text_45"/>
          <p:cNvSpPr txBox="1"/>
          <p:nvPr/>
        </p:nvSpPr>
        <p:spPr>
          <a:xfrm>
            <a:off x="685800" y="1280160"/>
            <a:ext cx="1828800" cy="548640"/>
          </a:xfrm>
          <a:prstGeom prst="rect">
            <a:avLst/>
          </a:prstGeom>
          <a:noFill/>
          <a:ln/>
        </p:spPr>
        <p:txBody>
          <a:bodyPr wrap="square" lIns="0" tIns="0" rIns="0" bIns="0" rtlCol="0" anchor="ctr"/>
          <a:lstStyle/>
          <a:p>
            <a:pPr indent="0" marL="0">
              <a:buNone/>
            </a:pPr>
            <a:r>
              <a:rPr lang="en-US" sz="1500" b="1" dirty="0">
                <a:solidFill>
                  <a:schemeClr val="tx2"/>
                </a:solidFill>
              </a:rPr>
              <a:t>site_name</a:t>
            </a:r>
            <a:endParaRPr lang="en-US" sz="1500" dirty="0"/>
          </a:p>
        </p:txBody>
      </p:sp>
      <p:sp>
        <p:nvSpPr>
          <p:cNvPr id="5" name="text_46"/>
          <p:cNvSpPr txBox="1"/>
          <p:nvPr/>
        </p:nvSpPr>
        <p:spPr>
          <a:xfrm>
            <a:off x="2560320" y="1280160"/>
            <a:ext cx="3291840" cy="548640"/>
          </a:xfrm>
          <a:prstGeom prst="rect">
            <a:avLst/>
          </a:prstGeom>
          <a:noFill/>
          <a:ln/>
        </p:spPr>
        <p:txBody>
          <a:bodyPr wrap="square" lIns="0" tIns="0" rIns="0" bIns="0" rtlCol="0" anchor="ctr"/>
          <a:lstStyle/>
          <a:p>
            <a:pPr indent="0" marL="0">
              <a:buNone/>
            </a:pPr>
            <a:r>
              <a:rPr lang="en-US" sz="1400" dirty="0">
                <a:solidFill>
                  <a:schemeClr val="tx1"/>
                </a:solidFill>
              </a:rPr>
              <a:t>measurement site (uos-rz = Osnabrück)</a:t>
            </a:r>
            <a:endParaRPr lang="en-US" sz="1400" dirty="0"/>
          </a:p>
        </p:txBody>
      </p:sp>
      <p:sp>
        <p:nvSpPr>
          <p:cNvPr id="6" name="card_47"/>
          <p:cNvSpPr/>
          <p:nvPr/>
        </p:nvSpPr>
        <p:spPr>
          <a:xfrm>
            <a:off x="548640" y="1920240"/>
            <a:ext cx="5394960" cy="548640"/>
          </a:xfrm>
          <a:prstGeom prst="roundRect">
            <a:avLst>
              <a:gd name="adj" fmla="val 20000"/>
            </a:avLst>
          </a:prstGeom>
          <a:solidFill>
            <a:schemeClr val="bg2"/>
          </a:solidFill>
          <a:ln w="12700">
            <a:solidFill>
              <a:schemeClr val="bg2"/>
            </a:solidFill>
            <a:prstDash val="solid"/>
          </a:ln>
        </p:spPr>
      </p:sp>
      <p:sp>
        <p:nvSpPr>
          <p:cNvPr id="7" name="text_48"/>
          <p:cNvSpPr txBox="1"/>
          <p:nvPr/>
        </p:nvSpPr>
        <p:spPr>
          <a:xfrm>
            <a:off x="685800" y="1920240"/>
            <a:ext cx="1828800" cy="548640"/>
          </a:xfrm>
          <a:prstGeom prst="rect">
            <a:avLst/>
          </a:prstGeom>
          <a:noFill/>
          <a:ln/>
        </p:spPr>
        <p:txBody>
          <a:bodyPr wrap="square" lIns="0" tIns="0" rIns="0" bIns="0" rtlCol="0" anchor="ctr"/>
          <a:lstStyle/>
          <a:p>
            <a:pPr indent="0" marL="0">
              <a:buNone/>
            </a:pPr>
            <a:r>
              <a:rPr lang="en-US" sz="1500" b="1" dirty="0">
                <a:solidFill>
                  <a:schemeClr val="tx2"/>
                </a:solidFill>
              </a:rPr>
              <a:t>timestamp_start</a:t>
            </a:r>
            <a:endParaRPr lang="en-US" sz="1500" dirty="0"/>
          </a:p>
        </p:txBody>
      </p:sp>
      <p:sp>
        <p:nvSpPr>
          <p:cNvPr id="8" name="text_49"/>
          <p:cNvSpPr txBox="1"/>
          <p:nvPr/>
        </p:nvSpPr>
        <p:spPr>
          <a:xfrm>
            <a:off x="2560320" y="1920240"/>
            <a:ext cx="3291840" cy="548640"/>
          </a:xfrm>
          <a:prstGeom prst="rect">
            <a:avLst/>
          </a:prstGeom>
          <a:noFill/>
          <a:ln/>
        </p:spPr>
        <p:txBody>
          <a:bodyPr wrap="square" lIns="0" tIns="0" rIns="0" bIns="0" rtlCol="0" anchor="ctr"/>
          <a:lstStyle/>
          <a:p>
            <a:pPr indent="0" marL="0">
              <a:buNone/>
            </a:pPr>
            <a:r>
              <a:rPr lang="en-US" sz="1400" dirty="0">
                <a:solidFill>
                  <a:schemeClr val="tx1"/>
                </a:solidFill>
              </a:rPr>
              <a:t>start of the run, same for all hops (UTC)</a:t>
            </a:r>
            <a:endParaRPr lang="en-US" sz="1400" dirty="0"/>
          </a:p>
        </p:txBody>
      </p:sp>
      <p:sp>
        <p:nvSpPr>
          <p:cNvPr id="9" name="card_50"/>
          <p:cNvSpPr/>
          <p:nvPr/>
        </p:nvSpPr>
        <p:spPr>
          <a:xfrm>
            <a:off x="548640" y="2560320"/>
            <a:ext cx="5394960" cy="548640"/>
          </a:xfrm>
          <a:prstGeom prst="roundRect">
            <a:avLst>
              <a:gd name="adj" fmla="val 20000"/>
            </a:avLst>
          </a:prstGeom>
          <a:solidFill>
            <a:schemeClr val="bg2"/>
          </a:solidFill>
          <a:ln w="12700">
            <a:solidFill>
              <a:schemeClr val="bg2"/>
            </a:solidFill>
            <a:prstDash val="solid"/>
          </a:ln>
        </p:spPr>
      </p:sp>
      <p:sp>
        <p:nvSpPr>
          <p:cNvPr id="10" name="text_51"/>
          <p:cNvSpPr txBox="1"/>
          <p:nvPr/>
        </p:nvSpPr>
        <p:spPr>
          <a:xfrm>
            <a:off x="685800" y="2560320"/>
            <a:ext cx="1828800" cy="548640"/>
          </a:xfrm>
          <a:prstGeom prst="rect">
            <a:avLst/>
          </a:prstGeom>
          <a:noFill/>
          <a:ln/>
        </p:spPr>
        <p:txBody>
          <a:bodyPr wrap="square" lIns="0" tIns="0" rIns="0" bIns="0" rtlCol="0" anchor="ctr"/>
          <a:lstStyle/>
          <a:p>
            <a:pPr indent="0" marL="0">
              <a:buNone/>
            </a:pPr>
            <a:r>
              <a:rPr lang="en-US" sz="1500" b="1" dirty="0">
                <a:solidFill>
                  <a:schemeClr val="tx2"/>
                </a:solidFill>
              </a:rPr>
              <a:t>timestamp_end</a:t>
            </a:r>
            <a:endParaRPr lang="en-US" sz="1500" dirty="0"/>
          </a:p>
        </p:txBody>
      </p:sp>
      <p:sp>
        <p:nvSpPr>
          <p:cNvPr id="11" name="text_52"/>
          <p:cNvSpPr txBox="1"/>
          <p:nvPr/>
        </p:nvSpPr>
        <p:spPr>
          <a:xfrm>
            <a:off x="2560320" y="2560320"/>
            <a:ext cx="3291840" cy="548640"/>
          </a:xfrm>
          <a:prstGeom prst="rect">
            <a:avLst/>
          </a:prstGeom>
          <a:noFill/>
          <a:ln/>
        </p:spPr>
        <p:txBody>
          <a:bodyPr wrap="square" lIns="0" tIns="0" rIns="0" bIns="0" rtlCol="0" anchor="ctr"/>
          <a:lstStyle/>
          <a:p>
            <a:pPr indent="0" marL="0">
              <a:buNone/>
            </a:pPr>
            <a:r>
              <a:rPr lang="en-US" sz="1400" dirty="0">
                <a:solidFill>
                  <a:schemeClr val="tx1"/>
                </a:solidFill>
              </a:rPr>
              <a:t>end of the run (~20–25 s later)</a:t>
            </a:r>
            <a:endParaRPr lang="en-US" sz="1400" dirty="0"/>
          </a:p>
        </p:txBody>
      </p:sp>
      <p:sp>
        <p:nvSpPr>
          <p:cNvPr id="12" name="card_53"/>
          <p:cNvSpPr/>
          <p:nvPr/>
        </p:nvSpPr>
        <p:spPr>
          <a:xfrm>
            <a:off x="548640" y="3200400"/>
            <a:ext cx="5394960" cy="548640"/>
          </a:xfrm>
          <a:prstGeom prst="roundRect">
            <a:avLst>
              <a:gd name="adj" fmla="val 20000"/>
            </a:avLst>
          </a:prstGeom>
          <a:solidFill>
            <a:srgbClr val="EEF3F7"/>
          </a:solidFill>
          <a:ln w="12700">
            <a:solidFill>
              <a:srgbClr val="EEF3F7"/>
            </a:solidFill>
            <a:prstDash val="solid"/>
          </a:ln>
        </p:spPr>
      </p:sp>
      <p:sp>
        <p:nvSpPr>
          <p:cNvPr id="13" name="text_54"/>
          <p:cNvSpPr txBox="1"/>
          <p:nvPr/>
        </p:nvSpPr>
        <p:spPr>
          <a:xfrm>
            <a:off x="685800" y="3200400"/>
            <a:ext cx="1828800" cy="548640"/>
          </a:xfrm>
          <a:prstGeom prst="rect">
            <a:avLst/>
          </a:prstGeom>
          <a:noFill/>
          <a:ln/>
        </p:spPr>
        <p:txBody>
          <a:bodyPr wrap="square" lIns="0" tIns="0" rIns="0" bIns="0" rtlCol="0" anchor="ctr"/>
          <a:lstStyle/>
          <a:p>
            <a:pPr indent="0" marL="0">
              <a:buNone/>
            </a:pPr>
            <a:r>
              <a:rPr lang="en-US" sz="1500" b="1" dirty="0">
                <a:solidFill>
                  <a:schemeClr val="accent1"/>
                </a:solidFill>
              </a:rPr>
              <a:t>hop</a:t>
            </a:r>
            <a:endParaRPr lang="en-US" sz="1500" dirty="0"/>
          </a:p>
        </p:txBody>
      </p:sp>
      <p:sp>
        <p:nvSpPr>
          <p:cNvPr id="14" name="text_55"/>
          <p:cNvSpPr txBox="1"/>
          <p:nvPr/>
        </p:nvSpPr>
        <p:spPr>
          <a:xfrm>
            <a:off x="2560320" y="3200400"/>
            <a:ext cx="3291840" cy="548640"/>
          </a:xfrm>
          <a:prstGeom prst="rect">
            <a:avLst/>
          </a:prstGeom>
          <a:noFill/>
          <a:ln/>
        </p:spPr>
        <p:txBody>
          <a:bodyPr wrap="square" lIns="0" tIns="0" rIns="0" bIns="0" rtlCol="0" anchor="ctr"/>
          <a:lstStyle/>
          <a:p>
            <a:pPr indent="0" marL="0">
              <a:buNone/>
            </a:pPr>
            <a:r>
              <a:rPr lang="en-US" sz="1400" dirty="0">
                <a:solidFill>
                  <a:schemeClr val="tx1"/>
                </a:solidFill>
              </a:rPr>
              <a:t>position of the router on the path</a:t>
            </a:r>
            <a:endParaRPr lang="en-US" sz="1400" dirty="0"/>
          </a:p>
        </p:txBody>
      </p:sp>
      <p:sp>
        <p:nvSpPr>
          <p:cNvPr id="15" name="card_56"/>
          <p:cNvSpPr/>
          <p:nvPr/>
        </p:nvSpPr>
        <p:spPr>
          <a:xfrm>
            <a:off x="548640" y="3840480"/>
            <a:ext cx="5394960" cy="548640"/>
          </a:xfrm>
          <a:prstGeom prst="roundRect">
            <a:avLst>
              <a:gd name="adj" fmla="val 20000"/>
            </a:avLst>
          </a:prstGeom>
          <a:solidFill>
            <a:schemeClr val="bg2"/>
          </a:solidFill>
          <a:ln w="12700">
            <a:solidFill>
              <a:schemeClr val="bg2"/>
            </a:solidFill>
            <a:prstDash val="solid"/>
          </a:ln>
        </p:spPr>
      </p:sp>
      <p:sp>
        <p:nvSpPr>
          <p:cNvPr id="16" name="text_57"/>
          <p:cNvSpPr txBox="1"/>
          <p:nvPr/>
        </p:nvSpPr>
        <p:spPr>
          <a:xfrm>
            <a:off x="685800" y="3840480"/>
            <a:ext cx="1828800" cy="548640"/>
          </a:xfrm>
          <a:prstGeom prst="rect">
            <a:avLst/>
          </a:prstGeom>
          <a:noFill/>
          <a:ln/>
        </p:spPr>
        <p:txBody>
          <a:bodyPr wrap="square" lIns="0" tIns="0" rIns="0" bIns="0" rtlCol="0" anchor="ctr"/>
          <a:lstStyle/>
          <a:p>
            <a:pPr indent="0" marL="0">
              <a:buNone/>
            </a:pPr>
            <a:r>
              <a:rPr lang="en-US" sz="1500" b="1" dirty="0">
                <a:solidFill>
                  <a:schemeClr val="tx2"/>
                </a:solidFill>
              </a:rPr>
              <a:t>target</a:t>
            </a:r>
            <a:endParaRPr lang="en-US" sz="1500" dirty="0"/>
          </a:p>
        </p:txBody>
      </p:sp>
      <p:sp>
        <p:nvSpPr>
          <p:cNvPr id="17" name="text_58"/>
          <p:cNvSpPr txBox="1"/>
          <p:nvPr/>
        </p:nvSpPr>
        <p:spPr>
          <a:xfrm>
            <a:off x="2560320" y="3840480"/>
            <a:ext cx="3291840" cy="548640"/>
          </a:xfrm>
          <a:prstGeom prst="rect">
            <a:avLst/>
          </a:prstGeom>
          <a:noFill/>
          <a:ln/>
        </p:spPr>
        <p:txBody>
          <a:bodyPr wrap="square" lIns="0" tIns="0" rIns="0" bIns="0" rtlCol="0" anchor="ctr"/>
          <a:lstStyle/>
          <a:p>
            <a:pPr indent="0" marL="0">
              <a:buNone/>
            </a:pPr>
            <a:r>
              <a:rPr lang="en-US" sz="1400" dirty="0">
                <a:solidFill>
                  <a:schemeClr val="tx1"/>
                </a:solidFill>
              </a:rPr>
              <a:t>destination (measurement server)</a:t>
            </a:r>
            <a:endParaRPr lang="en-US" sz="1400" dirty="0"/>
          </a:p>
        </p:txBody>
      </p:sp>
      <p:sp>
        <p:nvSpPr>
          <p:cNvPr id="18" name="card_59"/>
          <p:cNvSpPr/>
          <p:nvPr/>
        </p:nvSpPr>
        <p:spPr>
          <a:xfrm>
            <a:off x="548640" y="4480560"/>
            <a:ext cx="5394960" cy="548640"/>
          </a:xfrm>
          <a:prstGeom prst="roundRect">
            <a:avLst>
              <a:gd name="adj" fmla="val 20000"/>
            </a:avLst>
          </a:prstGeom>
          <a:solidFill>
            <a:schemeClr val="bg2"/>
          </a:solidFill>
          <a:ln w="12700">
            <a:solidFill>
              <a:schemeClr val="bg2"/>
            </a:solidFill>
            <a:prstDash val="solid"/>
          </a:ln>
        </p:spPr>
      </p:sp>
      <p:sp>
        <p:nvSpPr>
          <p:cNvPr id="19" name="text_60"/>
          <p:cNvSpPr txBox="1"/>
          <p:nvPr/>
        </p:nvSpPr>
        <p:spPr>
          <a:xfrm>
            <a:off x="685800" y="4480560"/>
            <a:ext cx="1828800" cy="548640"/>
          </a:xfrm>
          <a:prstGeom prst="rect">
            <a:avLst/>
          </a:prstGeom>
          <a:noFill/>
          <a:ln/>
        </p:spPr>
        <p:txBody>
          <a:bodyPr wrap="square" lIns="0" tIns="0" rIns="0" bIns="0" rtlCol="0" anchor="ctr"/>
          <a:lstStyle/>
          <a:p>
            <a:pPr indent="0" marL="0">
              <a:buNone/>
            </a:pPr>
            <a:r>
              <a:rPr lang="en-US" sz="1500" b="1" dirty="0">
                <a:solidFill>
                  <a:schemeClr val="tx2"/>
                </a:solidFill>
              </a:rPr>
              <a:t>ip_protocol</a:t>
            </a:r>
            <a:endParaRPr lang="en-US" sz="1500" dirty="0"/>
          </a:p>
        </p:txBody>
      </p:sp>
      <p:sp>
        <p:nvSpPr>
          <p:cNvPr id="20" name="text_61"/>
          <p:cNvSpPr txBox="1"/>
          <p:nvPr/>
        </p:nvSpPr>
        <p:spPr>
          <a:xfrm>
            <a:off x="2560320" y="4480560"/>
            <a:ext cx="3291840" cy="548640"/>
          </a:xfrm>
          <a:prstGeom prst="rect">
            <a:avLst/>
          </a:prstGeom>
          <a:noFill/>
          <a:ln/>
        </p:spPr>
        <p:txBody>
          <a:bodyPr wrap="square" lIns="0" tIns="0" rIns="0" bIns="0" rtlCol="0" anchor="ctr"/>
          <a:lstStyle/>
          <a:p>
            <a:pPr indent="0" marL="0">
              <a:buNone/>
            </a:pPr>
            <a:r>
              <a:rPr lang="en-US" sz="1400" dirty="0">
                <a:solidFill>
                  <a:schemeClr val="tx1"/>
                </a:solidFill>
              </a:rPr>
              <a:t>IP version (v4)</a:t>
            </a:r>
            <a:endParaRPr lang="en-US" sz="1400" dirty="0"/>
          </a:p>
        </p:txBody>
      </p:sp>
      <p:sp>
        <p:nvSpPr>
          <p:cNvPr id="21" name="card_62"/>
          <p:cNvSpPr/>
          <p:nvPr/>
        </p:nvSpPr>
        <p:spPr>
          <a:xfrm>
            <a:off x="548640" y="5120640"/>
            <a:ext cx="5394960" cy="548640"/>
          </a:xfrm>
          <a:prstGeom prst="roundRect">
            <a:avLst>
              <a:gd name="adj" fmla="val 20000"/>
            </a:avLst>
          </a:prstGeom>
          <a:solidFill>
            <a:srgbClr val="EEF3F7"/>
          </a:solidFill>
          <a:ln w="12700">
            <a:solidFill>
              <a:srgbClr val="EEF3F7"/>
            </a:solidFill>
            <a:prstDash val="solid"/>
          </a:ln>
        </p:spPr>
      </p:sp>
      <p:sp>
        <p:nvSpPr>
          <p:cNvPr id="22" name="text_63"/>
          <p:cNvSpPr txBox="1"/>
          <p:nvPr/>
        </p:nvSpPr>
        <p:spPr>
          <a:xfrm>
            <a:off x="685800" y="5120640"/>
            <a:ext cx="1828800" cy="548640"/>
          </a:xfrm>
          <a:prstGeom prst="rect">
            <a:avLst/>
          </a:prstGeom>
          <a:noFill/>
          <a:ln/>
        </p:spPr>
        <p:txBody>
          <a:bodyPr wrap="square" lIns="0" tIns="0" rIns="0" bIns="0" rtlCol="0" anchor="ctr"/>
          <a:lstStyle/>
          <a:p>
            <a:pPr indent="0" marL="0">
              <a:buNone/>
            </a:pPr>
            <a:r>
              <a:rPr lang="en-US" sz="1500" b="1" dirty="0">
                <a:solidFill>
                  <a:schemeClr val="accent1"/>
                </a:solidFill>
              </a:rPr>
              <a:t>hop_id</a:t>
            </a:r>
            <a:endParaRPr lang="en-US" sz="1500" dirty="0"/>
          </a:p>
        </p:txBody>
      </p:sp>
      <p:sp>
        <p:nvSpPr>
          <p:cNvPr id="23" name="text_64"/>
          <p:cNvSpPr txBox="1"/>
          <p:nvPr/>
        </p:nvSpPr>
        <p:spPr>
          <a:xfrm>
            <a:off x="2560320" y="5120640"/>
            <a:ext cx="3291840" cy="548640"/>
          </a:xfrm>
          <a:prstGeom prst="rect">
            <a:avLst/>
          </a:prstGeom>
          <a:noFill/>
          <a:ln/>
        </p:spPr>
        <p:txBody>
          <a:bodyPr wrap="square" lIns="0" tIns="0" rIns="0" bIns="0" rtlCol="0" anchor="ctr"/>
          <a:lstStyle/>
          <a:p>
            <a:pPr indent="0" marL="0">
              <a:buNone/>
            </a:pPr>
            <a:r>
              <a:rPr lang="en-US" sz="1400" dirty="0">
                <a:solidFill>
                  <a:schemeClr val="tx1"/>
                </a:solidFill>
              </a:rPr>
              <a:t>router name/IP; ??? = no answer</a:t>
            </a:r>
            <a:endParaRPr lang="en-US" sz="1400" dirty="0"/>
          </a:p>
        </p:txBody>
      </p:sp>
      <p:sp>
        <p:nvSpPr>
          <p:cNvPr id="24" name="card_65"/>
          <p:cNvSpPr/>
          <p:nvPr/>
        </p:nvSpPr>
        <p:spPr>
          <a:xfrm>
            <a:off x="548640" y="5760720"/>
            <a:ext cx="5394960" cy="548640"/>
          </a:xfrm>
          <a:prstGeom prst="roundRect">
            <a:avLst>
              <a:gd name="adj" fmla="val 20000"/>
            </a:avLst>
          </a:prstGeom>
          <a:solidFill>
            <a:schemeClr val="bg2"/>
          </a:solidFill>
          <a:ln w="12700">
            <a:solidFill>
              <a:schemeClr val="bg2"/>
            </a:solidFill>
            <a:prstDash val="solid"/>
          </a:ln>
        </p:spPr>
      </p:sp>
      <p:sp>
        <p:nvSpPr>
          <p:cNvPr id="25" name="text_66"/>
          <p:cNvSpPr txBox="1"/>
          <p:nvPr/>
        </p:nvSpPr>
        <p:spPr>
          <a:xfrm>
            <a:off x="685800" y="5760720"/>
            <a:ext cx="1828800" cy="548640"/>
          </a:xfrm>
          <a:prstGeom prst="rect">
            <a:avLst/>
          </a:prstGeom>
          <a:noFill/>
          <a:ln/>
        </p:spPr>
        <p:txBody>
          <a:bodyPr wrap="square" lIns="0" tIns="0" rIns="0" bIns="0" rtlCol="0" anchor="ctr"/>
          <a:lstStyle/>
          <a:p>
            <a:pPr indent="0" marL="0">
              <a:buNone/>
            </a:pPr>
            <a:r>
              <a:rPr lang="en-US" sz="1500" b="1" dirty="0">
                <a:solidFill>
                  <a:schemeClr val="tx2"/>
                </a:solidFill>
              </a:rPr>
              <a:t>asn</a:t>
            </a:r>
            <a:endParaRPr lang="en-US" sz="1500" dirty="0"/>
          </a:p>
        </p:txBody>
      </p:sp>
      <p:sp>
        <p:nvSpPr>
          <p:cNvPr id="26" name="text_67"/>
          <p:cNvSpPr txBox="1"/>
          <p:nvPr/>
        </p:nvSpPr>
        <p:spPr>
          <a:xfrm>
            <a:off x="2560320" y="5760720"/>
            <a:ext cx="3291840" cy="548640"/>
          </a:xfrm>
          <a:prstGeom prst="rect">
            <a:avLst/>
          </a:prstGeom>
          <a:noFill/>
          <a:ln/>
        </p:spPr>
        <p:txBody>
          <a:bodyPr wrap="square" lIns="0" tIns="0" rIns="0" bIns="0" rtlCol="0" anchor="ctr"/>
          <a:lstStyle/>
          <a:p>
            <a:pPr indent="0" marL="0">
              <a:buNone/>
            </a:pPr>
            <a:r>
              <a:rPr lang="en-US" sz="1400" dirty="0">
                <a:solidFill>
                  <a:schemeClr val="tx1"/>
                </a:solidFill>
              </a:rPr>
              <a:t>network operator (AS number)</a:t>
            </a:r>
            <a:endParaRPr lang="en-US" sz="1400" dirty="0"/>
          </a:p>
        </p:txBody>
      </p:sp>
      <p:sp>
        <p:nvSpPr>
          <p:cNvPr id="27" name="card_68"/>
          <p:cNvSpPr/>
          <p:nvPr/>
        </p:nvSpPr>
        <p:spPr>
          <a:xfrm>
            <a:off x="6217920" y="1280160"/>
            <a:ext cx="5394960" cy="548640"/>
          </a:xfrm>
          <a:prstGeom prst="roundRect">
            <a:avLst>
              <a:gd name="adj" fmla="val 20000"/>
            </a:avLst>
          </a:prstGeom>
          <a:solidFill>
            <a:srgbClr val="EEF3F7"/>
          </a:solidFill>
          <a:ln w="12700">
            <a:solidFill>
              <a:srgbClr val="EEF3F7"/>
            </a:solidFill>
            <a:prstDash val="solid"/>
          </a:ln>
        </p:spPr>
      </p:sp>
      <p:sp>
        <p:nvSpPr>
          <p:cNvPr id="28" name="text_69"/>
          <p:cNvSpPr txBox="1"/>
          <p:nvPr/>
        </p:nvSpPr>
        <p:spPr>
          <a:xfrm>
            <a:off x="6355080" y="1280160"/>
            <a:ext cx="1828800" cy="548640"/>
          </a:xfrm>
          <a:prstGeom prst="rect">
            <a:avLst/>
          </a:prstGeom>
          <a:noFill/>
          <a:ln/>
        </p:spPr>
        <p:txBody>
          <a:bodyPr wrap="square" lIns="0" tIns="0" rIns="0" bIns="0" rtlCol="0" anchor="ctr"/>
          <a:lstStyle/>
          <a:p>
            <a:pPr indent="0" marL="0">
              <a:buNone/>
            </a:pPr>
            <a:r>
              <a:rPr lang="en-US" sz="1500" b="1" dirty="0">
                <a:solidFill>
                  <a:schemeClr val="accent1"/>
                </a:solidFill>
              </a:rPr>
              <a:t>packet_loss</a:t>
            </a:r>
            <a:endParaRPr lang="en-US" sz="1500" dirty="0"/>
          </a:p>
        </p:txBody>
      </p:sp>
      <p:sp>
        <p:nvSpPr>
          <p:cNvPr id="29" name="text_70"/>
          <p:cNvSpPr txBox="1"/>
          <p:nvPr/>
        </p:nvSpPr>
        <p:spPr>
          <a:xfrm>
            <a:off x="8229600" y="1280160"/>
            <a:ext cx="3291840" cy="548640"/>
          </a:xfrm>
          <a:prstGeom prst="rect">
            <a:avLst/>
          </a:prstGeom>
          <a:noFill/>
          <a:ln/>
        </p:spPr>
        <p:txBody>
          <a:bodyPr wrap="square" lIns="0" tIns="0" rIns="0" bIns="0" rtlCol="0" anchor="ctr"/>
          <a:lstStyle/>
          <a:p>
            <a:pPr indent="0" marL="0">
              <a:buNone/>
            </a:pPr>
            <a:r>
              <a:rPr lang="en-US" sz="1400" dirty="0">
                <a:solidFill>
                  <a:schemeClr val="tx1"/>
                </a:solidFill>
              </a:rPr>
              <a:t>% of the 15 probes lost</a:t>
            </a:r>
            <a:endParaRPr lang="en-US" sz="1400" dirty="0"/>
          </a:p>
        </p:txBody>
      </p:sp>
      <p:sp>
        <p:nvSpPr>
          <p:cNvPr id="30" name="card_71"/>
          <p:cNvSpPr/>
          <p:nvPr/>
        </p:nvSpPr>
        <p:spPr>
          <a:xfrm>
            <a:off x="6217920" y="1920240"/>
            <a:ext cx="5394960" cy="548640"/>
          </a:xfrm>
          <a:prstGeom prst="roundRect">
            <a:avLst>
              <a:gd name="adj" fmla="val 20000"/>
            </a:avLst>
          </a:prstGeom>
          <a:solidFill>
            <a:schemeClr val="bg2"/>
          </a:solidFill>
          <a:ln w="12700">
            <a:solidFill>
              <a:schemeClr val="bg2"/>
            </a:solidFill>
            <a:prstDash val="solid"/>
          </a:ln>
        </p:spPr>
      </p:sp>
      <p:sp>
        <p:nvSpPr>
          <p:cNvPr id="31" name="text_72"/>
          <p:cNvSpPr txBox="1"/>
          <p:nvPr/>
        </p:nvSpPr>
        <p:spPr>
          <a:xfrm>
            <a:off x="6355080" y="1920240"/>
            <a:ext cx="1828800" cy="548640"/>
          </a:xfrm>
          <a:prstGeom prst="rect">
            <a:avLst/>
          </a:prstGeom>
          <a:noFill/>
          <a:ln/>
        </p:spPr>
        <p:txBody>
          <a:bodyPr wrap="square" lIns="0" tIns="0" rIns="0" bIns="0" rtlCol="0" anchor="ctr"/>
          <a:lstStyle/>
          <a:p>
            <a:pPr indent="0" marL="0">
              <a:buNone/>
            </a:pPr>
            <a:r>
              <a:rPr lang="en-US" sz="1500" b="1" dirty="0">
                <a:solidFill>
                  <a:schemeClr val="tx2"/>
                </a:solidFill>
              </a:rPr>
              <a:t>packets_send</a:t>
            </a:r>
            <a:endParaRPr lang="en-US" sz="1500" dirty="0"/>
          </a:p>
        </p:txBody>
      </p:sp>
      <p:sp>
        <p:nvSpPr>
          <p:cNvPr id="32" name="text_73"/>
          <p:cNvSpPr txBox="1"/>
          <p:nvPr/>
        </p:nvSpPr>
        <p:spPr>
          <a:xfrm>
            <a:off x="8229600" y="1920240"/>
            <a:ext cx="3291840" cy="548640"/>
          </a:xfrm>
          <a:prstGeom prst="rect">
            <a:avLst/>
          </a:prstGeom>
          <a:noFill/>
          <a:ln/>
        </p:spPr>
        <p:txBody>
          <a:bodyPr wrap="square" lIns="0" tIns="0" rIns="0" bIns="0" rtlCol="0" anchor="ctr"/>
          <a:lstStyle/>
          <a:p>
            <a:pPr indent="0" marL="0">
              <a:buNone/>
            </a:pPr>
            <a:r>
              <a:rPr lang="en-US" sz="1400" dirty="0">
                <a:solidFill>
                  <a:schemeClr val="tx1"/>
                </a:solidFill>
              </a:rPr>
              <a:t>probes sent to this hop (15)</a:t>
            </a:r>
            <a:endParaRPr lang="en-US" sz="1400" dirty="0"/>
          </a:p>
        </p:txBody>
      </p:sp>
      <p:sp>
        <p:nvSpPr>
          <p:cNvPr id="33" name="card_74"/>
          <p:cNvSpPr/>
          <p:nvPr/>
        </p:nvSpPr>
        <p:spPr>
          <a:xfrm>
            <a:off x="6217920" y="2560320"/>
            <a:ext cx="5394960" cy="548640"/>
          </a:xfrm>
          <a:prstGeom prst="roundRect">
            <a:avLst>
              <a:gd name="adj" fmla="val 20000"/>
            </a:avLst>
          </a:prstGeom>
          <a:solidFill>
            <a:srgbClr val="EEF3F7"/>
          </a:solidFill>
          <a:ln w="12700">
            <a:solidFill>
              <a:srgbClr val="EEF3F7"/>
            </a:solidFill>
            <a:prstDash val="solid"/>
          </a:ln>
        </p:spPr>
      </p:sp>
      <p:sp>
        <p:nvSpPr>
          <p:cNvPr id="34" name="text_75"/>
          <p:cNvSpPr txBox="1"/>
          <p:nvPr/>
        </p:nvSpPr>
        <p:spPr>
          <a:xfrm>
            <a:off x="6355080" y="2560320"/>
            <a:ext cx="1828800" cy="548640"/>
          </a:xfrm>
          <a:prstGeom prst="rect">
            <a:avLst/>
          </a:prstGeom>
          <a:noFill/>
          <a:ln/>
        </p:spPr>
        <p:txBody>
          <a:bodyPr wrap="square" lIns="0" tIns="0" rIns="0" bIns="0" rtlCol="0" anchor="ctr"/>
          <a:lstStyle/>
          <a:p>
            <a:pPr indent="0" marL="0">
              <a:buNone/>
            </a:pPr>
            <a:r>
              <a:rPr lang="en-US" sz="1500" b="1" dirty="0">
                <a:solidFill>
                  <a:schemeClr val="accent1"/>
                </a:solidFill>
              </a:rPr>
              <a:t>ping_avg</a:t>
            </a:r>
            <a:endParaRPr lang="en-US" sz="1500" dirty="0"/>
          </a:p>
        </p:txBody>
      </p:sp>
      <p:sp>
        <p:nvSpPr>
          <p:cNvPr id="35" name="text_76"/>
          <p:cNvSpPr txBox="1"/>
          <p:nvPr/>
        </p:nvSpPr>
        <p:spPr>
          <a:xfrm>
            <a:off x="8229600" y="2560320"/>
            <a:ext cx="3291840" cy="548640"/>
          </a:xfrm>
          <a:prstGeom prst="rect">
            <a:avLst/>
          </a:prstGeom>
          <a:noFill/>
          <a:ln/>
        </p:spPr>
        <p:txBody>
          <a:bodyPr wrap="square" lIns="0" tIns="0" rIns="0" bIns="0" rtlCol="0" anchor="ctr"/>
          <a:lstStyle/>
          <a:p>
            <a:pPr indent="0" marL="0">
              <a:buNone/>
            </a:pPr>
            <a:r>
              <a:rPr lang="en-US" sz="1400" dirty="0">
                <a:solidFill>
                  <a:schemeClr val="tx1"/>
                </a:solidFill>
              </a:rPr>
              <a:t>mean RTT of the probes [ms]</a:t>
            </a:r>
            <a:endParaRPr lang="en-US" sz="1400" dirty="0"/>
          </a:p>
        </p:txBody>
      </p:sp>
      <p:sp>
        <p:nvSpPr>
          <p:cNvPr id="36" name="card_77"/>
          <p:cNvSpPr/>
          <p:nvPr/>
        </p:nvSpPr>
        <p:spPr>
          <a:xfrm>
            <a:off x="6217920" y="3200400"/>
            <a:ext cx="5394960" cy="548640"/>
          </a:xfrm>
          <a:prstGeom prst="roundRect">
            <a:avLst>
              <a:gd name="adj" fmla="val 20000"/>
            </a:avLst>
          </a:prstGeom>
          <a:solidFill>
            <a:srgbClr val="EEF3F7"/>
          </a:solidFill>
          <a:ln w="12700">
            <a:solidFill>
              <a:srgbClr val="EEF3F7"/>
            </a:solidFill>
            <a:prstDash val="solid"/>
          </a:ln>
        </p:spPr>
      </p:sp>
      <p:sp>
        <p:nvSpPr>
          <p:cNvPr id="37" name="text_78"/>
          <p:cNvSpPr txBox="1"/>
          <p:nvPr/>
        </p:nvSpPr>
        <p:spPr>
          <a:xfrm>
            <a:off x="6355080" y="3200400"/>
            <a:ext cx="1828800" cy="548640"/>
          </a:xfrm>
          <a:prstGeom prst="rect">
            <a:avLst/>
          </a:prstGeom>
          <a:noFill/>
          <a:ln/>
        </p:spPr>
        <p:txBody>
          <a:bodyPr wrap="square" lIns="0" tIns="0" rIns="0" bIns="0" rtlCol="0" anchor="ctr"/>
          <a:lstStyle/>
          <a:p>
            <a:pPr indent="0" marL="0">
              <a:buNone/>
            </a:pPr>
            <a:r>
              <a:rPr lang="en-US" sz="1500" b="1" dirty="0">
                <a:solidFill>
                  <a:schemeClr val="accent1"/>
                </a:solidFill>
              </a:rPr>
              <a:t>ping_best</a:t>
            </a:r>
            <a:endParaRPr lang="en-US" sz="1500" dirty="0"/>
          </a:p>
        </p:txBody>
      </p:sp>
      <p:sp>
        <p:nvSpPr>
          <p:cNvPr id="38" name="text_79"/>
          <p:cNvSpPr txBox="1"/>
          <p:nvPr/>
        </p:nvSpPr>
        <p:spPr>
          <a:xfrm>
            <a:off x="8229600" y="3200400"/>
            <a:ext cx="3291840" cy="548640"/>
          </a:xfrm>
          <a:prstGeom prst="rect">
            <a:avLst/>
          </a:prstGeom>
          <a:noFill/>
          <a:ln/>
        </p:spPr>
        <p:txBody>
          <a:bodyPr wrap="square" lIns="0" tIns="0" rIns="0" bIns="0" rtlCol="0" anchor="ctr"/>
          <a:lstStyle/>
          <a:p>
            <a:pPr indent="0" marL="0">
              <a:buNone/>
            </a:pPr>
            <a:r>
              <a:rPr lang="en-US" sz="1400" dirty="0">
                <a:solidFill>
                  <a:schemeClr val="tx1"/>
                </a:solidFill>
              </a:rPr>
              <a:t>fastest probe [ms]</a:t>
            </a:r>
            <a:endParaRPr lang="en-US" sz="1400" dirty="0"/>
          </a:p>
        </p:txBody>
      </p:sp>
      <p:sp>
        <p:nvSpPr>
          <p:cNvPr id="39" name="card_80"/>
          <p:cNvSpPr/>
          <p:nvPr/>
        </p:nvSpPr>
        <p:spPr>
          <a:xfrm>
            <a:off x="6217920" y="3840480"/>
            <a:ext cx="5394960" cy="548640"/>
          </a:xfrm>
          <a:prstGeom prst="roundRect">
            <a:avLst>
              <a:gd name="adj" fmla="val 20000"/>
            </a:avLst>
          </a:prstGeom>
          <a:solidFill>
            <a:srgbClr val="EEF3F7"/>
          </a:solidFill>
          <a:ln w="12700">
            <a:solidFill>
              <a:srgbClr val="EEF3F7"/>
            </a:solidFill>
            <a:prstDash val="solid"/>
          </a:ln>
        </p:spPr>
      </p:sp>
      <p:sp>
        <p:nvSpPr>
          <p:cNvPr id="40" name="text_81"/>
          <p:cNvSpPr txBox="1"/>
          <p:nvPr/>
        </p:nvSpPr>
        <p:spPr>
          <a:xfrm>
            <a:off x="6355080" y="3840480"/>
            <a:ext cx="1828800" cy="548640"/>
          </a:xfrm>
          <a:prstGeom prst="rect">
            <a:avLst/>
          </a:prstGeom>
          <a:noFill/>
          <a:ln/>
        </p:spPr>
        <p:txBody>
          <a:bodyPr wrap="square" lIns="0" tIns="0" rIns="0" bIns="0" rtlCol="0" anchor="ctr"/>
          <a:lstStyle/>
          <a:p>
            <a:pPr indent="0" marL="0">
              <a:buNone/>
            </a:pPr>
            <a:r>
              <a:rPr lang="en-US" sz="1500" b="1" dirty="0">
                <a:solidFill>
                  <a:schemeClr val="accent1"/>
                </a:solidFill>
              </a:rPr>
              <a:t>ping_worst</a:t>
            </a:r>
            <a:endParaRPr lang="en-US" sz="1500" dirty="0"/>
          </a:p>
        </p:txBody>
      </p:sp>
      <p:sp>
        <p:nvSpPr>
          <p:cNvPr id="41" name="text_82"/>
          <p:cNvSpPr txBox="1"/>
          <p:nvPr/>
        </p:nvSpPr>
        <p:spPr>
          <a:xfrm>
            <a:off x="8229600" y="3840480"/>
            <a:ext cx="3291840" cy="548640"/>
          </a:xfrm>
          <a:prstGeom prst="rect">
            <a:avLst/>
          </a:prstGeom>
          <a:noFill/>
          <a:ln/>
        </p:spPr>
        <p:txBody>
          <a:bodyPr wrap="square" lIns="0" tIns="0" rIns="0" bIns="0" rtlCol="0" anchor="ctr"/>
          <a:lstStyle/>
          <a:p>
            <a:pPr indent="0" marL="0">
              <a:buNone/>
            </a:pPr>
            <a:r>
              <a:rPr lang="en-US" sz="1400" dirty="0">
                <a:solidFill>
                  <a:schemeClr val="tx1"/>
                </a:solidFill>
              </a:rPr>
              <a:t>slowest probe [ms]</a:t>
            </a:r>
            <a:endParaRPr lang="en-US" sz="1400" dirty="0"/>
          </a:p>
        </p:txBody>
      </p:sp>
      <p:sp>
        <p:nvSpPr>
          <p:cNvPr id="42" name="card_83"/>
          <p:cNvSpPr/>
          <p:nvPr/>
        </p:nvSpPr>
        <p:spPr>
          <a:xfrm>
            <a:off x="6217920" y="4480560"/>
            <a:ext cx="5394960" cy="548640"/>
          </a:xfrm>
          <a:prstGeom prst="roundRect">
            <a:avLst>
              <a:gd name="adj" fmla="val 20000"/>
            </a:avLst>
          </a:prstGeom>
          <a:solidFill>
            <a:srgbClr val="EEF3F7"/>
          </a:solidFill>
          <a:ln w="12700">
            <a:solidFill>
              <a:srgbClr val="EEF3F7"/>
            </a:solidFill>
            <a:prstDash val="solid"/>
          </a:ln>
        </p:spPr>
      </p:sp>
      <p:sp>
        <p:nvSpPr>
          <p:cNvPr id="43" name="text_84"/>
          <p:cNvSpPr txBox="1"/>
          <p:nvPr/>
        </p:nvSpPr>
        <p:spPr>
          <a:xfrm>
            <a:off x="6355080" y="4480560"/>
            <a:ext cx="1828800" cy="548640"/>
          </a:xfrm>
          <a:prstGeom prst="rect">
            <a:avLst/>
          </a:prstGeom>
          <a:noFill/>
          <a:ln/>
        </p:spPr>
        <p:txBody>
          <a:bodyPr wrap="square" lIns="0" tIns="0" rIns="0" bIns="0" rtlCol="0" anchor="ctr"/>
          <a:lstStyle/>
          <a:p>
            <a:pPr indent="0" marL="0">
              <a:buNone/>
            </a:pPr>
            <a:r>
              <a:rPr lang="en-US" sz="1500" b="1" dirty="0">
                <a:solidFill>
                  <a:schemeClr val="accent1"/>
                </a:solidFill>
              </a:rPr>
              <a:t>ping_stddev</a:t>
            </a:r>
            <a:endParaRPr lang="en-US" sz="1500" dirty="0"/>
          </a:p>
        </p:txBody>
      </p:sp>
      <p:sp>
        <p:nvSpPr>
          <p:cNvPr id="44" name="text_85"/>
          <p:cNvSpPr txBox="1"/>
          <p:nvPr/>
        </p:nvSpPr>
        <p:spPr>
          <a:xfrm>
            <a:off x="8229600" y="4480560"/>
            <a:ext cx="3291840" cy="548640"/>
          </a:xfrm>
          <a:prstGeom prst="rect">
            <a:avLst/>
          </a:prstGeom>
          <a:noFill/>
          <a:ln/>
        </p:spPr>
        <p:txBody>
          <a:bodyPr wrap="square" lIns="0" tIns="0" rIns="0" bIns="0" rtlCol="0" anchor="ctr"/>
          <a:lstStyle/>
          <a:p>
            <a:pPr indent="0" marL="0">
              <a:buNone/>
            </a:pPr>
            <a:r>
              <a:rPr lang="en-US" sz="1400" dirty="0">
                <a:solidFill>
                  <a:schemeClr val="tx1"/>
                </a:solidFill>
              </a:rPr>
              <a:t>spread of the probe RTTs [ms]</a:t>
            </a:r>
            <a:endParaRPr lang="en-US" sz="1400" dirty="0"/>
          </a:p>
        </p:txBody>
      </p:sp>
      <p:sp>
        <p:nvSpPr>
          <p:cNvPr id="45" name="card_86"/>
          <p:cNvSpPr/>
          <p:nvPr/>
        </p:nvSpPr>
        <p:spPr>
          <a:xfrm>
            <a:off x="6217920" y="5120640"/>
            <a:ext cx="5394960" cy="548640"/>
          </a:xfrm>
          <a:prstGeom prst="roundRect">
            <a:avLst>
              <a:gd name="adj" fmla="val 20000"/>
            </a:avLst>
          </a:prstGeom>
          <a:solidFill>
            <a:schemeClr val="bg2"/>
          </a:solidFill>
          <a:ln w="12700">
            <a:solidFill>
              <a:schemeClr val="bg2"/>
            </a:solidFill>
            <a:prstDash val="solid"/>
          </a:ln>
        </p:spPr>
      </p:sp>
      <p:sp>
        <p:nvSpPr>
          <p:cNvPr id="46" name="text_87"/>
          <p:cNvSpPr txBox="1"/>
          <p:nvPr/>
        </p:nvSpPr>
        <p:spPr>
          <a:xfrm>
            <a:off x="6355080" y="5120640"/>
            <a:ext cx="1828800" cy="548640"/>
          </a:xfrm>
          <a:prstGeom prst="rect">
            <a:avLst/>
          </a:prstGeom>
          <a:noFill/>
          <a:ln/>
        </p:spPr>
        <p:txBody>
          <a:bodyPr wrap="square" lIns="0" tIns="0" rIns="0" bIns="0" rtlCol="0" anchor="ctr"/>
          <a:lstStyle/>
          <a:p>
            <a:pPr indent="0" marL="0">
              <a:buNone/>
            </a:pPr>
            <a:r>
              <a:rPr lang="en-US" sz="1500" b="1" dirty="0">
                <a:solidFill>
                  <a:schemeClr val="tx2"/>
                </a:solidFill>
              </a:rPr>
              <a:t>hops</a:t>
            </a:r>
            <a:endParaRPr lang="en-US" sz="1500" dirty="0"/>
          </a:p>
        </p:txBody>
      </p:sp>
      <p:sp>
        <p:nvSpPr>
          <p:cNvPr id="47" name="text_88"/>
          <p:cNvSpPr txBox="1"/>
          <p:nvPr/>
        </p:nvSpPr>
        <p:spPr>
          <a:xfrm>
            <a:off x="8229600" y="5120640"/>
            <a:ext cx="3291840" cy="548640"/>
          </a:xfrm>
          <a:prstGeom prst="rect">
            <a:avLst/>
          </a:prstGeom>
          <a:noFill/>
          <a:ln/>
        </p:spPr>
        <p:txBody>
          <a:bodyPr wrap="square" lIns="0" tIns="0" rIns="0" bIns="0" rtlCol="0" anchor="ctr"/>
          <a:lstStyle/>
          <a:p>
            <a:pPr indent="0" marL="0">
              <a:buNone/>
            </a:pPr>
            <a:r>
              <a:rPr lang="en-US" sz="1400" dirty="0">
                <a:solidFill>
                  <a:schemeClr val="tx1"/>
                </a:solidFill>
              </a:rPr>
              <a:t>number of hops in this run (13)</a:t>
            </a:r>
            <a:endParaRPr lang="en-US" sz="1400" dirty="0"/>
          </a:p>
        </p:txBody>
      </p:sp>
      <p:sp>
        <p:nvSpPr>
          <p:cNvPr id="48" name="text_89"/>
          <p:cNvSpPr txBox="1"/>
          <p:nvPr/>
        </p:nvSpPr>
        <p:spPr>
          <a:xfrm>
            <a:off x="6217920" y="5760720"/>
            <a:ext cx="5394960" cy="457200"/>
          </a:xfrm>
          <a:prstGeom prst="rect">
            <a:avLst/>
          </a:prstGeom>
          <a:noFill/>
          <a:ln/>
        </p:spPr>
        <p:txBody>
          <a:bodyPr wrap="square" rtlCol="0" anchor="t"/>
          <a:lstStyle/>
          <a:p>
            <a:pPr indent="0" marL="0">
              <a:buNone/>
            </a:pPr>
            <a:r>
              <a:rPr lang="en-US" sz="1300" i="1" dirty="0">
                <a:solidFill>
                  <a:schemeClr val="accent3"/>
                </a:solidFill>
              </a:rPr>
              <a:t>Teal names: the columns used to find and describe the bent-pipe hop.</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Later hops can show a lower RTT</a:t>
            </a:r>
            <a:endParaRPr lang="en-US" sz="3200" dirty="0"/>
          </a:p>
        </p:txBody>
      </p:sp>
      <p:graphicFrame>
        <p:nvGraphicFramePr>
          <p:cNvPr id="3" name="chart_90" descr=""/>
          <p:cNvGraphicFramePr/>
          <p:nvPr/>
        </p:nvGraphicFramePr>
        <p:xfrm>
          <a:off x="548640" y="1234440"/>
          <a:ext cx="5760720" cy="4754880"/>
        </p:xfrm>
        <a:graphic xmlns:a="http://schemas.openxmlformats.org/drawingml/2006/main">
          <a:graphicData uri="http://schemas.openxmlformats.org/drawingml/2006/chart">
            <c:chart xmlns:c="http://schemas.openxmlformats.org/drawingml/2006/chart" r:id="rId1"/>
          </a:graphicData>
        </a:graphic>
      </p:graphicFrame>
      <p:sp>
        <p:nvSpPr>
          <p:cNvPr id="4" name="card_91"/>
          <p:cNvSpPr/>
          <p:nvPr/>
        </p:nvSpPr>
        <p:spPr>
          <a:xfrm>
            <a:off x="6583680" y="1234440"/>
            <a:ext cx="5029200" cy="1234440"/>
          </a:xfrm>
          <a:prstGeom prst="roundRect">
            <a:avLst>
              <a:gd name="adj" fmla="val 8889"/>
            </a:avLst>
          </a:prstGeom>
          <a:solidFill>
            <a:srgbClr val="EEF3F7"/>
          </a:solidFill>
          <a:ln w="12700">
            <a:solidFill>
              <a:srgbClr val="EEF3F7"/>
            </a:solidFill>
            <a:prstDash val="solid"/>
          </a:ln>
        </p:spPr>
      </p:sp>
      <p:sp>
        <p:nvSpPr>
          <p:cNvPr id="5" name="text_92"/>
          <p:cNvSpPr txBox="1"/>
          <p:nvPr/>
        </p:nvSpPr>
        <p:spPr>
          <a:xfrm>
            <a:off x="6766560" y="1325880"/>
            <a:ext cx="4663440" cy="1097280"/>
          </a:xfrm>
          <a:prstGeom prst="rect">
            <a:avLst/>
          </a:prstGeom>
          <a:noFill/>
          <a:ln/>
        </p:spPr>
        <p:txBody>
          <a:bodyPr wrap="square" rtlCol="0" anchor="t"/>
          <a:lstStyle/>
          <a:p>
            <a:pPr indent="0" marL="0">
              <a:buNone/>
            </a:pPr>
            <a:r>
              <a:rPr lang="en-US" sz="1500" b="1" dirty="0">
                <a:solidFill>
                  <a:schemeClr val="tx2"/>
                </a:solidFill>
              </a:rPr>
              <a:t>hop 3 (26.19 ms) &lt; hop 1 (29.35 ms)</a:t>
            </a:r>
            <a:endParaRPr lang="en-US" sz="1600" dirty="0"/>
          </a:p>
          <a:p>
            <a:pPr indent="0" marL="0">
              <a:buNone/>
            </a:pPr>
            <a:r>
              <a:rPr lang="en-US" sz="1500" b="1" dirty="0">
                <a:solidFill>
                  <a:schemeClr val="tx2"/>
                </a:solidFill>
              </a:rPr>
              <a:t>hop 12 (55.72) &lt; hop 11 (61.40)</a:t>
            </a:r>
            <a:endParaRPr lang="en-US" sz="1600" dirty="0"/>
          </a:p>
          <a:p>
            <a:pPr indent="0" marL="0">
              <a:buNone/>
            </a:pPr>
            <a:r>
              <a:rPr lang="en-US" sz="1500" b="1" dirty="0">
                <a:solidFill>
                  <a:schemeClr val="tx2"/>
                </a:solidFill>
              </a:rPr>
              <a:t>hop 6: no answer (???, 100% loss)</a:t>
            </a:r>
            <a:endParaRPr lang="en-US" sz="1600" dirty="0"/>
          </a:p>
        </p:txBody>
      </p:sp>
      <p:sp>
        <p:nvSpPr>
          <p:cNvPr id="6" name="text_93"/>
          <p:cNvSpPr txBox="1"/>
          <p:nvPr/>
        </p:nvSpPr>
        <p:spPr>
          <a:xfrm>
            <a:off x="6583680" y="2606040"/>
            <a:ext cx="5029200" cy="365760"/>
          </a:xfrm>
          <a:prstGeom prst="rect">
            <a:avLst/>
          </a:prstGeom>
          <a:noFill/>
          <a:ln/>
        </p:spPr>
        <p:txBody>
          <a:bodyPr wrap="square" rtlCol="0" anchor="t"/>
          <a:lstStyle/>
          <a:p>
            <a:pPr indent="0" marL="0">
              <a:buNone/>
            </a:pPr>
            <a:r>
              <a:rPr lang="en-US" sz="1500" i="1" dirty="0">
                <a:solidFill>
                  <a:schemeClr val="accent5"/>
                </a:solidFill>
              </a:rPr>
              <a:t>Not discussed in the paper. Standard reasons:</a:t>
            </a:r>
            <a:endParaRPr lang="en-US" sz="1500" dirty="0"/>
          </a:p>
        </p:txBody>
      </p:sp>
      <p:sp>
        <p:nvSpPr>
          <p:cNvPr id="7" name="text_94"/>
          <p:cNvSpPr txBox="1"/>
          <p:nvPr/>
        </p:nvSpPr>
        <p:spPr>
          <a:xfrm>
            <a:off x="6583680" y="3017520"/>
            <a:ext cx="5029200" cy="3108960"/>
          </a:xfrm>
          <a:prstGeom prst="rect">
            <a:avLst/>
          </a:prstGeom>
          <a:noFill/>
          <a:ln/>
        </p:spPr>
        <p:txBody>
          <a:bodyPr wrap="square" rtlCol="0" anchor="t"/>
          <a:lstStyle/>
          <a:p>
            <a:pPr marL="342900" indent="-342900">
              <a:spcAft>
                <a:spcPts val="600"/>
              </a:spcAft>
              <a:buSzPct val="100000"/>
              <a:buChar char="•"/>
            </a:pPr>
            <a:r>
              <a:rPr lang="en-US" sz="1500" dirty="0">
                <a:solidFill>
                  <a:schemeClr val="tx1"/>
                </a:solidFill>
              </a:rPr>
              <a:t>Replies come from the router's CPU, which treats them as low priority and rate-limits them</a:t>
            </a:r>
            <a:endParaRPr lang="en-US" sz="1600" dirty="0"/>
          </a:p>
          <a:p>
            <a:pPr marL="342900" indent="-342900">
              <a:spcAft>
                <a:spcPts val="600"/>
              </a:spcAft>
              <a:buSzPct val="100000"/>
              <a:buChar char="•"/>
            </a:pPr>
            <a:r>
              <a:rPr lang="en-US" sz="1500" dirty="0">
                <a:solidFill>
                  <a:schemeClr val="tx1"/>
                </a:solidFill>
              </a:rPr>
              <a:t>Each hop is probed with different packets at different moments; Starlink delay changes from moment to moment</a:t>
            </a:r>
            <a:endParaRPr lang="en-US" sz="1600" dirty="0"/>
          </a:p>
          <a:p>
            <a:pPr marL="342900" indent="-342900">
              <a:spcAft>
                <a:spcPts val="600"/>
              </a:spcAft>
              <a:buSzPct val="100000"/>
              <a:buChar char="•"/>
            </a:pPr>
            <a:r>
              <a:rPr lang="en-US" sz="1500" dirty="0">
                <a:solidFill>
                  <a:schemeClr val="tx1"/>
                </a:solidFill>
              </a:rPr>
              <a:t>The reply can return over a different path</a:t>
            </a:r>
            <a:endParaRPr lang="en-US" sz="1600" dirty="0"/>
          </a:p>
          <a:p>
            <a:pPr marL="342900" indent="-342900">
              <a:spcAft>
                <a:spcPts val="600"/>
              </a:spcAft>
              <a:buSzPct val="100000"/>
              <a:buChar char="•"/>
            </a:pPr>
            <a:r>
              <a:rPr lang="en-US" sz="1500" dirty="0">
                <a:solidFill>
                  <a:schemeClr val="tx1"/>
                </a:solidFill>
              </a:rPr>
              <a:t>Some routers ignore probes but still forward traffic</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How the paper neutralised the time of day</a:t>
            </a:r>
            <a:endParaRPr lang="en-US" sz="3200" dirty="0"/>
          </a:p>
        </p:txBody>
      </p:sp>
      <p:graphicFrame>
        <p:nvGraphicFramePr>
          <p:cNvPr id="3" name="chart_95" descr=""/>
          <p:cNvGraphicFramePr/>
          <p:nvPr/>
        </p:nvGraphicFramePr>
        <p:xfrm>
          <a:off x="548640" y="1234440"/>
          <a:ext cx="6400800" cy="4206240"/>
        </p:xfrm>
        <a:graphic xmlns:a="http://schemas.openxmlformats.org/drawingml/2006/main">
          <a:graphicData uri="http://schemas.openxmlformats.org/drawingml/2006/chart">
            <c:chart xmlns:c="http://schemas.openxmlformats.org/drawingml/2006/chart" r:id="rId1"/>
          </a:graphicData>
        </a:graphic>
      </p:graphicFrame>
      <p:sp>
        <p:nvSpPr>
          <p:cNvPr id="4" name="text_96"/>
          <p:cNvSpPr txBox="1"/>
          <p:nvPr/>
        </p:nvSpPr>
        <p:spPr>
          <a:xfrm>
            <a:off x="548640" y="5532120"/>
            <a:ext cx="6400800" cy="548640"/>
          </a:xfrm>
          <a:prstGeom prst="rect">
            <a:avLst/>
          </a:prstGeom>
          <a:noFill/>
          <a:ln/>
        </p:spPr>
        <p:txBody>
          <a:bodyPr wrap="square" rtlCol="0" anchor="t"/>
          <a:lstStyle/>
          <a:p>
            <a:pPr indent="0" marL="0">
              <a:buNone/>
            </a:pPr>
            <a:r>
              <a:rPr lang="en-US" sz="1400" i="1" dirty="0">
                <a:solidFill>
                  <a:schemeClr val="accent3"/>
                </a:solidFill>
              </a:rPr>
              <a:t>Example: a sample at 19h gets +30.70 Mbit/s added, because 19h is the slowest hour.</a:t>
            </a:r>
            <a:endParaRPr lang="en-US" sz="1400" dirty="0"/>
          </a:p>
        </p:txBody>
      </p:sp>
      <p:sp>
        <p:nvSpPr>
          <p:cNvPr id="5" name="num_97"/>
          <p:cNvSpPr/>
          <p:nvPr/>
        </p:nvSpPr>
        <p:spPr>
          <a:xfrm>
            <a:off x="7269480" y="1371600"/>
            <a:ext cx="457200" cy="457200"/>
          </a:xfrm>
          <a:prstGeom prst="ellipse">
            <a:avLst/>
          </a:prstGeom>
          <a:solidFill>
            <a:schemeClr val="accent1"/>
          </a:solidFill>
          <a:ln w="12700">
            <a:solidFill>
              <a:schemeClr val="accent1"/>
            </a:solidFill>
            <a:prstDash val="solid"/>
          </a:ln>
        </p:spPr>
      </p:sp>
      <p:sp>
        <p:nvSpPr>
          <p:cNvPr id="6" name="text_98"/>
          <p:cNvSpPr txBox="1"/>
          <p:nvPr/>
        </p:nvSpPr>
        <p:spPr>
          <a:xfrm>
            <a:off x="7269480"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_99"/>
          <p:cNvSpPr txBox="1"/>
          <p:nvPr/>
        </p:nvSpPr>
        <p:spPr>
          <a:xfrm>
            <a:off x="7863840" y="1280160"/>
            <a:ext cx="3749040" cy="685800"/>
          </a:xfrm>
          <a:prstGeom prst="rect">
            <a:avLst/>
          </a:prstGeom>
          <a:noFill/>
          <a:ln/>
        </p:spPr>
        <p:txBody>
          <a:bodyPr wrap="square" lIns="0" tIns="0" rIns="0" bIns="0" rtlCol="0" anchor="ctr"/>
          <a:lstStyle/>
          <a:p>
            <a:pPr indent="0" marL="0">
              <a:buNone/>
            </a:pPr>
            <a:r>
              <a:rPr lang="en-US" sz="1500" dirty="0">
                <a:solidFill>
                  <a:schemeClr val="tx1"/>
                </a:solidFill>
              </a:rPr>
              <a:t>Remove outliers (IQR rule, factor 1.5)</a:t>
            </a:r>
            <a:endParaRPr lang="en-US" sz="1500" dirty="0"/>
          </a:p>
        </p:txBody>
      </p:sp>
      <p:sp>
        <p:nvSpPr>
          <p:cNvPr id="8" name="num_100"/>
          <p:cNvSpPr/>
          <p:nvPr/>
        </p:nvSpPr>
        <p:spPr>
          <a:xfrm>
            <a:off x="7269480" y="2240280"/>
            <a:ext cx="457200" cy="457200"/>
          </a:xfrm>
          <a:prstGeom prst="ellipse">
            <a:avLst/>
          </a:prstGeom>
          <a:solidFill>
            <a:schemeClr val="accent1"/>
          </a:solidFill>
          <a:ln w="12700">
            <a:solidFill>
              <a:schemeClr val="accent1"/>
            </a:solidFill>
            <a:prstDash val="solid"/>
          </a:ln>
        </p:spPr>
      </p:sp>
      <p:sp>
        <p:nvSpPr>
          <p:cNvPr id="9" name="text_101"/>
          <p:cNvSpPr txBox="1"/>
          <p:nvPr/>
        </p:nvSpPr>
        <p:spPr>
          <a:xfrm>
            <a:off x="7269480" y="22402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_102"/>
          <p:cNvSpPr txBox="1"/>
          <p:nvPr/>
        </p:nvSpPr>
        <p:spPr>
          <a:xfrm>
            <a:off x="7863840" y="2148840"/>
            <a:ext cx="3749040" cy="685800"/>
          </a:xfrm>
          <a:prstGeom prst="rect">
            <a:avLst/>
          </a:prstGeom>
          <a:noFill/>
          <a:ln/>
        </p:spPr>
        <p:txBody>
          <a:bodyPr wrap="square" lIns="0" tIns="0" rIns="0" bIns="0" rtlCol="0" anchor="ctr"/>
          <a:lstStyle/>
          <a:p>
            <a:pPr indent="0" marL="0">
              <a:buNone/>
            </a:pPr>
            <a:r>
              <a:rPr lang="en-US" sz="1500" dirty="0">
                <a:solidFill>
                  <a:schemeClr val="tx1"/>
                </a:solidFill>
              </a:rPr>
              <a:t>Overall median download throughput of all non-rainy samples (both sites together)</a:t>
            </a:r>
            <a:endParaRPr lang="en-US" sz="1500" dirty="0"/>
          </a:p>
        </p:txBody>
      </p:sp>
      <p:sp>
        <p:nvSpPr>
          <p:cNvPr id="11" name="num_103"/>
          <p:cNvSpPr/>
          <p:nvPr/>
        </p:nvSpPr>
        <p:spPr>
          <a:xfrm>
            <a:off x="7269480" y="3108960"/>
            <a:ext cx="457200" cy="457200"/>
          </a:xfrm>
          <a:prstGeom prst="ellipse">
            <a:avLst/>
          </a:prstGeom>
          <a:solidFill>
            <a:schemeClr val="accent1"/>
          </a:solidFill>
          <a:ln w="12700">
            <a:solidFill>
              <a:schemeClr val="accent1"/>
            </a:solidFill>
            <a:prstDash val="solid"/>
          </a:ln>
        </p:spPr>
      </p:sp>
      <p:sp>
        <p:nvSpPr>
          <p:cNvPr id="12" name="text_104"/>
          <p:cNvSpPr txBox="1"/>
          <p:nvPr/>
        </p:nvSpPr>
        <p:spPr>
          <a:xfrm>
            <a:off x="7269480" y="3108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_105"/>
          <p:cNvSpPr txBox="1"/>
          <p:nvPr/>
        </p:nvSpPr>
        <p:spPr>
          <a:xfrm>
            <a:off x="7863840" y="3017520"/>
            <a:ext cx="3749040" cy="685800"/>
          </a:xfrm>
          <a:prstGeom prst="rect">
            <a:avLst/>
          </a:prstGeom>
          <a:noFill/>
          <a:ln/>
        </p:spPr>
        <p:txBody>
          <a:bodyPr wrap="square" lIns="0" tIns="0" rIns="0" bIns="0" rtlCol="0" anchor="ctr"/>
          <a:lstStyle/>
          <a:p>
            <a:pPr indent="0" marL="0">
              <a:buNone/>
            </a:pPr>
            <a:r>
              <a:rPr lang="en-US" sz="1500" dirty="0">
                <a:solidFill>
                  <a:schemeClr val="tx1"/>
                </a:solidFill>
              </a:rPr>
              <a:t>Median of the non-rainy samples in each of the 24 hours</a:t>
            </a:r>
            <a:endParaRPr lang="en-US" sz="1500" dirty="0"/>
          </a:p>
        </p:txBody>
      </p:sp>
      <p:sp>
        <p:nvSpPr>
          <p:cNvPr id="14" name="num_106"/>
          <p:cNvSpPr/>
          <p:nvPr/>
        </p:nvSpPr>
        <p:spPr>
          <a:xfrm>
            <a:off x="7269480" y="3977640"/>
            <a:ext cx="457200" cy="457200"/>
          </a:xfrm>
          <a:prstGeom prst="ellipse">
            <a:avLst/>
          </a:prstGeom>
          <a:solidFill>
            <a:schemeClr val="accent1"/>
          </a:solidFill>
          <a:ln w="12700">
            <a:solidFill>
              <a:schemeClr val="accent1"/>
            </a:solidFill>
            <a:prstDash val="solid"/>
          </a:ln>
        </p:spPr>
      </p:sp>
      <p:sp>
        <p:nvSpPr>
          <p:cNvPr id="15" name="text_107"/>
          <p:cNvSpPr txBox="1"/>
          <p:nvPr/>
        </p:nvSpPr>
        <p:spPr>
          <a:xfrm>
            <a:off x="7269480" y="3977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6" name="text_108"/>
          <p:cNvSpPr txBox="1"/>
          <p:nvPr/>
        </p:nvSpPr>
        <p:spPr>
          <a:xfrm>
            <a:off x="7863840" y="3886200"/>
            <a:ext cx="3749040" cy="685800"/>
          </a:xfrm>
          <a:prstGeom prst="rect">
            <a:avLst/>
          </a:prstGeom>
          <a:noFill/>
          <a:ln/>
        </p:spPr>
        <p:txBody>
          <a:bodyPr wrap="square" lIns="0" tIns="0" rIns="0" bIns="0" rtlCol="0" anchor="ctr"/>
          <a:lstStyle/>
          <a:p>
            <a:pPr indent="0" marL="0">
              <a:buNone/>
            </a:pPr>
            <a:r>
              <a:rPr lang="en-US" sz="1500" dirty="0">
                <a:solidFill>
                  <a:schemeClr val="tx1"/>
                </a:solidFill>
              </a:rPr>
              <a:t>c_dt = overall median − hourly median</a:t>
            </a:r>
            <a:endParaRPr lang="en-US" sz="1500" dirty="0"/>
          </a:p>
        </p:txBody>
      </p:sp>
      <p:sp>
        <p:nvSpPr>
          <p:cNvPr id="17" name="num_109"/>
          <p:cNvSpPr/>
          <p:nvPr/>
        </p:nvSpPr>
        <p:spPr>
          <a:xfrm>
            <a:off x="7269480" y="4846320"/>
            <a:ext cx="457200" cy="457200"/>
          </a:xfrm>
          <a:prstGeom prst="ellipse">
            <a:avLst/>
          </a:prstGeom>
          <a:solidFill>
            <a:schemeClr val="accent1"/>
          </a:solidFill>
          <a:ln w="12700">
            <a:solidFill>
              <a:schemeClr val="accent1"/>
            </a:solidFill>
            <a:prstDash val="solid"/>
          </a:ln>
        </p:spPr>
      </p:sp>
      <p:sp>
        <p:nvSpPr>
          <p:cNvPr id="18" name="text_110"/>
          <p:cNvSpPr txBox="1"/>
          <p:nvPr/>
        </p:nvSpPr>
        <p:spPr>
          <a:xfrm>
            <a:off x="7269480" y="4846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9" name="text_111"/>
          <p:cNvSpPr txBox="1"/>
          <p:nvPr/>
        </p:nvSpPr>
        <p:spPr>
          <a:xfrm>
            <a:off x="7863840" y="4754880"/>
            <a:ext cx="3749040" cy="685800"/>
          </a:xfrm>
          <a:prstGeom prst="rect">
            <a:avLst/>
          </a:prstGeom>
          <a:noFill/>
          <a:ln/>
        </p:spPr>
        <p:txBody>
          <a:bodyPr wrap="square" lIns="0" tIns="0" rIns="0" bIns="0" rtlCol="0" anchor="ctr"/>
          <a:lstStyle/>
          <a:p>
            <a:pPr indent="0" marL="0">
              <a:buNone/>
            </a:pPr>
            <a:r>
              <a:rPr lang="en-US" sz="1500" dirty="0">
                <a:solidFill>
                  <a:schemeClr val="tx1"/>
                </a:solidFill>
              </a:rPr>
              <a:t>Add c_dt to every sample of that hour, then group by rain</a:t>
            </a:r>
            <a:endParaRPr lang="en-US" sz="1500" dirty="0"/>
          </a:p>
        </p:txBody>
      </p:sp>
      <p:sp>
        <p:nvSpPr>
          <p:cNvPr id="20" name="text_112"/>
          <p:cNvSpPr txBox="1"/>
          <p:nvPr/>
        </p:nvSpPr>
        <p:spPr>
          <a:xfrm>
            <a:off x="7269480" y="5623560"/>
            <a:ext cx="4343400" cy="548640"/>
          </a:xfrm>
          <a:prstGeom prst="rect">
            <a:avLst/>
          </a:prstGeom>
          <a:noFill/>
          <a:ln/>
        </p:spPr>
        <p:txBody>
          <a:bodyPr wrap="square" rtlCol="0" anchor="t"/>
          <a:lstStyle/>
          <a:p>
            <a:pPr indent="0" marL="0">
              <a:buNone/>
            </a:pPr>
            <a:r>
              <a:rPr lang="en-US" sz="1300" i="1" dirty="0">
                <a:solidFill>
                  <a:schemeClr val="accent5"/>
                </a:solidFill>
              </a:rPr>
              <a:t>Limitation (paper): one factor per hour for all 6 months; no variation between days.</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This study: one bent-pipe RTT every ~6 minutes</a:t>
            </a:r>
            <a:endParaRPr lang="en-US" sz="3200" dirty="0"/>
          </a:p>
        </p:txBody>
      </p:sp>
      <p:sp>
        <p:nvSpPr>
          <p:cNvPr id="3" name="card_113"/>
          <p:cNvSpPr/>
          <p:nvPr/>
        </p:nvSpPr>
        <p:spPr>
          <a:xfrm>
            <a:off x="548640" y="1325880"/>
            <a:ext cx="2560320" cy="2103120"/>
          </a:xfrm>
          <a:prstGeom prst="roundRect">
            <a:avLst>
              <a:gd name="adj" fmla="val 5217"/>
            </a:avLst>
          </a:prstGeom>
          <a:solidFill>
            <a:schemeClr val="bg2"/>
          </a:solidFill>
          <a:ln w="12700">
            <a:solidFill>
              <a:schemeClr val="bg2"/>
            </a:solidFill>
            <a:prstDash val="solid"/>
          </a:ln>
        </p:spPr>
      </p:sp>
      <p:sp>
        <p:nvSpPr>
          <p:cNvPr id="4" name="text_114"/>
          <p:cNvSpPr txBox="1"/>
          <p:nvPr/>
        </p:nvSpPr>
        <p:spPr>
          <a:xfrm>
            <a:off x="685800" y="1463040"/>
            <a:ext cx="2286000" cy="457200"/>
          </a:xfrm>
          <a:prstGeom prst="rect">
            <a:avLst/>
          </a:prstGeom>
          <a:noFill/>
          <a:ln/>
        </p:spPr>
        <p:txBody>
          <a:bodyPr wrap="square" rtlCol="0" anchor="t"/>
          <a:lstStyle/>
          <a:p>
            <a:pPr indent="0" marL="0">
              <a:buNone/>
            </a:pPr>
            <a:r>
              <a:rPr lang="en-US" sz="1800" b="1" dirty="0">
                <a:solidFill>
                  <a:schemeClr val="tx2"/>
                </a:solidFill>
                <a:latin typeface="Cambria" pitchFamily="34" charset="0"/>
                <a:ea typeface="Cambria" pitchFamily="34" charset="-122"/>
                <a:cs typeface="Cambria" pitchFamily="34" charset="-120"/>
              </a:rPr>
              <a:t>1. Extract</a:t>
            </a:r>
            <a:endParaRPr lang="en-US" sz="1800" dirty="0"/>
          </a:p>
        </p:txBody>
      </p:sp>
      <p:sp>
        <p:nvSpPr>
          <p:cNvPr id="5" name="text_115"/>
          <p:cNvSpPr txBox="1"/>
          <p:nvPr/>
        </p:nvSpPr>
        <p:spPr>
          <a:xfrm>
            <a:off x="685800" y="1965960"/>
            <a:ext cx="2286000" cy="1371600"/>
          </a:xfrm>
          <a:prstGeom prst="rect">
            <a:avLst/>
          </a:prstGeom>
          <a:noFill/>
          <a:ln/>
        </p:spPr>
        <p:txBody>
          <a:bodyPr wrap="square" rtlCol="0" anchor="t"/>
          <a:lstStyle/>
          <a:p>
            <a:pPr indent="0" marL="0">
              <a:buNone/>
            </a:pPr>
            <a:r>
              <a:rPr lang="en-US" sz="1500" dirty="0">
                <a:solidFill>
                  <a:schemeClr val="tx1"/>
                </a:solidFill>
              </a:rPr>
              <a:t>keep only the hop-1 row of every traceroute run</a:t>
            </a:r>
            <a:endParaRPr lang="en-US" sz="1500" dirty="0"/>
          </a:p>
        </p:txBody>
      </p:sp>
      <p:sp>
        <p:nvSpPr>
          <p:cNvPr id="6" name="arrow_116"/>
          <p:cNvSpPr/>
          <p:nvPr/>
        </p:nvSpPr>
        <p:spPr>
          <a:xfrm>
            <a:off x="3127248" y="2377440"/>
            <a:ext cx="237744" cy="0"/>
          </a:xfrm>
          <a:prstGeom prst="line">
            <a:avLst/>
          </a:prstGeom>
          <a:noFill/>
          <a:ln w="25400">
            <a:solidFill>
              <a:schemeClr val="accent3"/>
            </a:solidFill>
            <a:prstDash val="solid"/>
            <a:tailEnd type="triangle"/>
          </a:ln>
        </p:spPr>
      </p:sp>
      <p:sp>
        <p:nvSpPr>
          <p:cNvPr id="7" name="card_117"/>
          <p:cNvSpPr/>
          <p:nvPr/>
        </p:nvSpPr>
        <p:spPr>
          <a:xfrm>
            <a:off x="3383280" y="1325880"/>
            <a:ext cx="2560320" cy="2103120"/>
          </a:xfrm>
          <a:prstGeom prst="roundRect">
            <a:avLst>
              <a:gd name="adj" fmla="val 5217"/>
            </a:avLst>
          </a:prstGeom>
          <a:solidFill>
            <a:schemeClr val="bg2"/>
          </a:solidFill>
          <a:ln w="12700">
            <a:solidFill>
              <a:schemeClr val="bg2"/>
            </a:solidFill>
            <a:prstDash val="solid"/>
          </a:ln>
        </p:spPr>
      </p:sp>
      <p:sp>
        <p:nvSpPr>
          <p:cNvPr id="8" name="text_118"/>
          <p:cNvSpPr txBox="1"/>
          <p:nvPr/>
        </p:nvSpPr>
        <p:spPr>
          <a:xfrm>
            <a:off x="3520440" y="1463040"/>
            <a:ext cx="2286000" cy="457200"/>
          </a:xfrm>
          <a:prstGeom prst="rect">
            <a:avLst/>
          </a:prstGeom>
          <a:noFill/>
          <a:ln/>
        </p:spPr>
        <p:txBody>
          <a:bodyPr wrap="square" rtlCol="0" anchor="t"/>
          <a:lstStyle/>
          <a:p>
            <a:pPr indent="0" marL="0">
              <a:buNone/>
            </a:pPr>
            <a:r>
              <a:rPr lang="en-US" sz="1800" b="1" dirty="0">
                <a:solidFill>
                  <a:schemeClr val="tx2"/>
                </a:solidFill>
                <a:latin typeface="Cambria" pitchFamily="34" charset="0"/>
                <a:ea typeface="Cambria" pitchFamily="34" charset="-122"/>
                <a:cs typeface="Cambria" pitchFamily="34" charset="-120"/>
              </a:rPr>
              <a:t>2. Attach weather</a:t>
            </a:r>
            <a:endParaRPr lang="en-US" sz="1800" dirty="0"/>
          </a:p>
        </p:txBody>
      </p:sp>
      <p:sp>
        <p:nvSpPr>
          <p:cNvPr id="9" name="text_119"/>
          <p:cNvSpPr txBox="1"/>
          <p:nvPr/>
        </p:nvSpPr>
        <p:spPr>
          <a:xfrm>
            <a:off x="3520440" y="1965960"/>
            <a:ext cx="2286000" cy="1371600"/>
          </a:xfrm>
          <a:prstGeom prst="rect">
            <a:avLst/>
          </a:prstGeom>
          <a:noFill/>
          <a:ln/>
        </p:spPr>
        <p:txBody>
          <a:bodyPr wrap="square" rtlCol="0" anchor="t"/>
          <a:lstStyle/>
          <a:p>
            <a:pPr indent="0" marL="0">
              <a:buNone/>
            </a:pPr>
            <a:r>
              <a:rPr lang="en-US" sz="1500" dirty="0">
                <a:solidFill>
                  <a:schemeClr val="tx1"/>
                </a:solidFill>
              </a:rPr>
              <a:t>rain rate (mm/h) and other values from the station next to the dish</a:t>
            </a:r>
            <a:endParaRPr lang="en-US" sz="1500" dirty="0"/>
          </a:p>
        </p:txBody>
      </p:sp>
      <p:sp>
        <p:nvSpPr>
          <p:cNvPr id="10" name="arrow_120"/>
          <p:cNvSpPr/>
          <p:nvPr/>
        </p:nvSpPr>
        <p:spPr>
          <a:xfrm>
            <a:off x="5961888" y="2377440"/>
            <a:ext cx="237744" cy="0"/>
          </a:xfrm>
          <a:prstGeom prst="line">
            <a:avLst/>
          </a:prstGeom>
          <a:noFill/>
          <a:ln w="25400">
            <a:solidFill>
              <a:schemeClr val="accent3"/>
            </a:solidFill>
            <a:prstDash val="solid"/>
            <a:tailEnd type="triangle"/>
          </a:ln>
        </p:spPr>
      </p:sp>
      <p:sp>
        <p:nvSpPr>
          <p:cNvPr id="11" name="card_121"/>
          <p:cNvSpPr/>
          <p:nvPr/>
        </p:nvSpPr>
        <p:spPr>
          <a:xfrm>
            <a:off x="6217920" y="1325880"/>
            <a:ext cx="2560320" cy="2103120"/>
          </a:xfrm>
          <a:prstGeom prst="roundRect">
            <a:avLst>
              <a:gd name="adj" fmla="val 5217"/>
            </a:avLst>
          </a:prstGeom>
          <a:solidFill>
            <a:srgbClr val="EEF3F7"/>
          </a:solidFill>
          <a:ln w="12700">
            <a:solidFill>
              <a:srgbClr val="EEF3F7"/>
            </a:solidFill>
            <a:prstDash val="solid"/>
          </a:ln>
        </p:spPr>
      </p:sp>
      <p:sp>
        <p:nvSpPr>
          <p:cNvPr id="12" name="text_122"/>
          <p:cNvSpPr txBox="1"/>
          <p:nvPr/>
        </p:nvSpPr>
        <p:spPr>
          <a:xfrm>
            <a:off x="6355080" y="1463040"/>
            <a:ext cx="2286000" cy="457200"/>
          </a:xfrm>
          <a:prstGeom prst="rect">
            <a:avLst/>
          </a:prstGeom>
          <a:noFill/>
          <a:ln/>
        </p:spPr>
        <p:txBody>
          <a:bodyPr wrap="square"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3. Neutralise</a:t>
            </a:r>
            <a:endParaRPr lang="en-US" sz="1800" dirty="0"/>
          </a:p>
        </p:txBody>
      </p:sp>
      <p:sp>
        <p:nvSpPr>
          <p:cNvPr id="13" name="text_123"/>
          <p:cNvSpPr txBox="1"/>
          <p:nvPr/>
        </p:nvSpPr>
        <p:spPr>
          <a:xfrm>
            <a:off x="6355080" y="1965960"/>
            <a:ext cx="2286000" cy="1371600"/>
          </a:xfrm>
          <a:prstGeom prst="rect">
            <a:avLst/>
          </a:prstGeom>
          <a:noFill/>
          <a:ln/>
        </p:spPr>
        <p:txBody>
          <a:bodyPr wrap="square" rtlCol="0" anchor="t"/>
          <a:lstStyle/>
          <a:p>
            <a:pPr indent="0" marL="0">
              <a:buNone/>
            </a:pPr>
            <a:r>
              <a:rPr lang="en-US" sz="1500" dirty="0">
                <a:solidFill>
                  <a:schemeClr val="tx1"/>
                </a:solidFill>
              </a:rPr>
              <a:t>remove time-of-day and month-to-month effects</a:t>
            </a:r>
            <a:endParaRPr lang="en-US" sz="1500" dirty="0"/>
          </a:p>
        </p:txBody>
      </p:sp>
      <p:sp>
        <p:nvSpPr>
          <p:cNvPr id="14" name="arrow_124"/>
          <p:cNvSpPr/>
          <p:nvPr/>
        </p:nvSpPr>
        <p:spPr>
          <a:xfrm>
            <a:off x="8796528" y="2377440"/>
            <a:ext cx="237744" cy="0"/>
          </a:xfrm>
          <a:prstGeom prst="line">
            <a:avLst/>
          </a:prstGeom>
          <a:noFill/>
          <a:ln w="25400">
            <a:solidFill>
              <a:schemeClr val="accent3"/>
            </a:solidFill>
            <a:prstDash val="solid"/>
            <a:tailEnd type="triangle"/>
          </a:ln>
        </p:spPr>
      </p:sp>
      <p:sp>
        <p:nvSpPr>
          <p:cNvPr id="15" name="card_125"/>
          <p:cNvSpPr/>
          <p:nvPr/>
        </p:nvSpPr>
        <p:spPr>
          <a:xfrm>
            <a:off x="9052560" y="1325880"/>
            <a:ext cx="2560320" cy="2103120"/>
          </a:xfrm>
          <a:prstGeom prst="roundRect">
            <a:avLst>
              <a:gd name="adj" fmla="val 5217"/>
            </a:avLst>
          </a:prstGeom>
          <a:solidFill>
            <a:schemeClr val="bg2"/>
          </a:solidFill>
          <a:ln w="12700">
            <a:solidFill>
              <a:schemeClr val="bg2"/>
            </a:solidFill>
            <a:prstDash val="solid"/>
          </a:ln>
        </p:spPr>
      </p:sp>
      <p:sp>
        <p:nvSpPr>
          <p:cNvPr id="16" name="text_126"/>
          <p:cNvSpPr txBox="1"/>
          <p:nvPr/>
        </p:nvSpPr>
        <p:spPr>
          <a:xfrm>
            <a:off x="9189720" y="1463040"/>
            <a:ext cx="2286000" cy="457200"/>
          </a:xfrm>
          <a:prstGeom prst="rect">
            <a:avLst/>
          </a:prstGeom>
          <a:noFill/>
          <a:ln/>
        </p:spPr>
        <p:txBody>
          <a:bodyPr wrap="square" rtlCol="0" anchor="t"/>
          <a:lstStyle/>
          <a:p>
            <a:pPr indent="0" marL="0">
              <a:buNone/>
            </a:pPr>
            <a:r>
              <a:rPr lang="en-US" sz="1800" b="1" dirty="0">
                <a:solidFill>
                  <a:schemeClr val="tx2"/>
                </a:solidFill>
                <a:latin typeface="Cambria" pitchFamily="34" charset="0"/>
                <a:ea typeface="Cambria" pitchFamily="34" charset="-122"/>
                <a:cs typeface="Cambria" pitchFamily="34" charset="-120"/>
              </a:rPr>
              <a:t>4. Relate to rain</a:t>
            </a:r>
            <a:endParaRPr lang="en-US" sz="1800" dirty="0"/>
          </a:p>
        </p:txBody>
      </p:sp>
      <p:sp>
        <p:nvSpPr>
          <p:cNvPr id="17" name="text_127"/>
          <p:cNvSpPr txBox="1"/>
          <p:nvPr/>
        </p:nvSpPr>
        <p:spPr>
          <a:xfrm>
            <a:off x="9189720" y="1965960"/>
            <a:ext cx="2286000" cy="1371600"/>
          </a:xfrm>
          <a:prstGeom prst="rect">
            <a:avLst/>
          </a:prstGeom>
          <a:noFill/>
          <a:ln/>
        </p:spPr>
        <p:txBody>
          <a:bodyPr wrap="square" rtlCol="0" anchor="t"/>
          <a:lstStyle/>
          <a:p>
            <a:pPr indent="0" marL="0">
              <a:buNone/>
            </a:pPr>
            <a:r>
              <a:rPr lang="en-US" sz="1500" dirty="0">
                <a:solidFill>
                  <a:schemeClr val="tx1"/>
                </a:solidFill>
              </a:rPr>
              <a:t>compare rainy and dry runs, test the correlation</a:t>
            </a:r>
            <a:endParaRPr lang="en-US" sz="1500" dirty="0"/>
          </a:p>
        </p:txBody>
      </p:sp>
      <p:sp>
        <p:nvSpPr>
          <p:cNvPr id="18" name="card_128"/>
          <p:cNvSpPr/>
          <p:nvPr/>
        </p:nvSpPr>
        <p:spPr>
          <a:xfrm>
            <a:off x="548640" y="3794760"/>
            <a:ext cx="3657600" cy="2377440"/>
          </a:xfrm>
          <a:prstGeom prst="roundRect">
            <a:avLst>
              <a:gd name="adj" fmla="val 4615"/>
            </a:avLst>
          </a:prstGeom>
          <a:solidFill>
            <a:srgbClr val="14213D"/>
          </a:solidFill>
          <a:ln w="12700">
            <a:solidFill>
              <a:srgbClr val="14213D"/>
            </a:solidFill>
            <a:prstDash val="solid"/>
          </a:ln>
        </p:spPr>
      </p:sp>
      <p:sp>
        <p:nvSpPr>
          <p:cNvPr id="19" name="text_129"/>
          <p:cNvSpPr txBox="1"/>
          <p:nvPr/>
        </p:nvSpPr>
        <p:spPr>
          <a:xfrm>
            <a:off x="548640" y="3977640"/>
            <a:ext cx="3657600" cy="1097280"/>
          </a:xfrm>
          <a:prstGeom prst="rect">
            <a:avLst/>
          </a:prstGeom>
          <a:noFill/>
          <a:ln/>
        </p:spPr>
        <p:txBody>
          <a:bodyPr wrap="square" rtlCol="0" anchor="ctr"/>
          <a:lstStyle/>
          <a:p>
            <a:pPr algn="ctr" indent="0" marL="0">
              <a:buNone/>
            </a:pPr>
            <a:r>
              <a:rPr lang="en-US" sz="6000" b="1" dirty="0">
                <a:solidFill>
                  <a:schemeClr val="bg1"/>
                </a:solidFill>
                <a:latin typeface="Cambria" pitchFamily="34" charset="0"/>
                <a:ea typeface="Cambria" pitchFamily="34" charset="-122"/>
                <a:cs typeface="Cambria" pitchFamily="34" charset="-120"/>
              </a:rPr>
              <a:t>37,579</a:t>
            </a:r>
            <a:endParaRPr lang="en-US" sz="6000" dirty="0"/>
          </a:p>
        </p:txBody>
      </p:sp>
      <p:sp>
        <p:nvSpPr>
          <p:cNvPr id="20" name="text_130"/>
          <p:cNvSpPr txBox="1"/>
          <p:nvPr/>
        </p:nvSpPr>
        <p:spPr>
          <a:xfrm>
            <a:off x="548640" y="5120640"/>
            <a:ext cx="3657600" cy="822960"/>
          </a:xfrm>
          <a:prstGeom prst="rect">
            <a:avLst/>
          </a:prstGeom>
          <a:noFill/>
          <a:ln/>
        </p:spPr>
        <p:txBody>
          <a:bodyPr wrap="square" rtlCol="0" anchor="t"/>
          <a:lstStyle/>
          <a:p>
            <a:pPr algn="ctr" indent="0" marL="0">
              <a:buNone/>
            </a:pPr>
            <a:r>
              <a:rPr lang="en-US" sz="1500" dirty="0">
                <a:solidFill>
                  <a:schemeClr val="accent4"/>
                </a:solidFill>
              </a:rPr>
              <a:t>runs used (≈ 37k)</a:t>
            </a:r>
            <a:endParaRPr lang="en-US" sz="1500" dirty="0"/>
          </a:p>
          <a:p>
            <a:pPr algn="ctr" indent="0" marL="0">
              <a:buNone/>
            </a:pPr>
            <a:r>
              <a:rPr lang="en-US" sz="1500" dirty="0">
                <a:solidFill>
                  <a:schemeClr val="accent4"/>
                </a:solidFill>
              </a:rPr>
              <a:t>Sep 14 2023 – Mar 12 2024</a:t>
            </a:r>
            <a:endParaRPr lang="en-US" sz="1500" dirty="0"/>
          </a:p>
        </p:txBody>
      </p:sp>
      <p:sp>
        <p:nvSpPr>
          <p:cNvPr id="21" name="text_131"/>
          <p:cNvSpPr txBox="1"/>
          <p:nvPr/>
        </p:nvSpPr>
        <p:spPr>
          <a:xfrm>
            <a:off x="4572000" y="3840480"/>
            <a:ext cx="5120640" cy="457200"/>
          </a:xfrm>
          <a:prstGeom prst="rect">
            <a:avLst/>
          </a:prstGeom>
          <a:noFill/>
          <a:ln/>
        </p:spPr>
        <p:txBody>
          <a:bodyPr wrap="square" lIns="0" tIns="0" rIns="0" bIns="0" rtlCol="0" anchor="ctr"/>
          <a:lstStyle/>
          <a:p>
            <a:pPr indent="0" marL="0">
              <a:buNone/>
            </a:pPr>
            <a:r>
              <a:rPr lang="en-US" sz="1600" dirty="0">
                <a:solidFill>
                  <a:schemeClr val="tx1"/>
                </a:solidFill>
              </a:rPr>
              <a:t>All traceroute runs</a:t>
            </a:r>
            <a:endParaRPr lang="en-US" sz="1600" dirty="0"/>
          </a:p>
        </p:txBody>
      </p:sp>
      <p:sp>
        <p:nvSpPr>
          <p:cNvPr id="22" name="text_132"/>
          <p:cNvSpPr txBox="1"/>
          <p:nvPr/>
        </p:nvSpPr>
        <p:spPr>
          <a:xfrm>
            <a:off x="9784080" y="3840480"/>
            <a:ext cx="1828800" cy="457200"/>
          </a:xfrm>
          <a:prstGeom prst="rect">
            <a:avLst/>
          </a:prstGeom>
          <a:noFill/>
          <a:ln/>
        </p:spPr>
        <p:txBody>
          <a:bodyPr wrap="square" lIns="0" tIns="0" rIns="0" bIns="0" rtlCol="0" anchor="ctr"/>
          <a:lstStyle/>
          <a:p>
            <a:pPr algn="r" indent="0" marL="0">
              <a:buNone/>
            </a:pPr>
            <a:r>
              <a:rPr lang="en-US" sz="1600" b="1" dirty="0">
                <a:solidFill>
                  <a:schemeClr val="tx2"/>
                </a:solidFill>
              </a:rPr>
              <a:t>38,703</a:t>
            </a:r>
            <a:endParaRPr lang="en-US" sz="1600" dirty="0"/>
          </a:p>
        </p:txBody>
      </p:sp>
      <p:sp>
        <p:nvSpPr>
          <p:cNvPr id="23" name="text_133"/>
          <p:cNvSpPr txBox="1"/>
          <p:nvPr/>
        </p:nvSpPr>
        <p:spPr>
          <a:xfrm>
            <a:off x="4572000" y="4407408"/>
            <a:ext cx="5120640" cy="457200"/>
          </a:xfrm>
          <a:prstGeom prst="rect">
            <a:avLst/>
          </a:prstGeom>
          <a:noFill/>
          <a:ln/>
        </p:spPr>
        <p:txBody>
          <a:bodyPr wrap="square" lIns="0" tIns="0" rIns="0" bIns="0" rtlCol="0" anchor="ctr"/>
          <a:lstStyle/>
          <a:p>
            <a:pPr indent="0" marL="0">
              <a:buNone/>
            </a:pPr>
            <a:r>
              <a:rPr lang="en-US" sz="1600" dirty="0">
                <a:solidFill>
                  <a:schemeClr val="tx1"/>
                </a:solidFill>
              </a:rPr>
              <a:t>− outages (no reply from 100.64.0.1)</a:t>
            </a:r>
            <a:endParaRPr lang="en-US" sz="1600" dirty="0"/>
          </a:p>
        </p:txBody>
      </p:sp>
      <p:sp>
        <p:nvSpPr>
          <p:cNvPr id="24" name="text_134"/>
          <p:cNvSpPr txBox="1"/>
          <p:nvPr/>
        </p:nvSpPr>
        <p:spPr>
          <a:xfrm>
            <a:off x="9784080" y="4407408"/>
            <a:ext cx="1828800" cy="457200"/>
          </a:xfrm>
          <a:prstGeom prst="rect">
            <a:avLst/>
          </a:prstGeom>
          <a:noFill/>
          <a:ln/>
        </p:spPr>
        <p:txBody>
          <a:bodyPr wrap="square" lIns="0" tIns="0" rIns="0" bIns="0" rtlCol="0" anchor="ctr"/>
          <a:lstStyle/>
          <a:p>
            <a:pPr algn="r" indent="0" marL="0">
              <a:buNone/>
            </a:pPr>
            <a:r>
              <a:rPr lang="en-US" sz="1600" b="1" dirty="0">
                <a:solidFill>
                  <a:schemeClr val="tx2"/>
                </a:solidFill>
              </a:rPr>
              <a:t>7</a:t>
            </a:r>
            <a:endParaRPr lang="en-US" sz="1600" dirty="0"/>
          </a:p>
        </p:txBody>
      </p:sp>
      <p:sp>
        <p:nvSpPr>
          <p:cNvPr id="25" name="text_135"/>
          <p:cNvSpPr txBox="1"/>
          <p:nvPr/>
        </p:nvSpPr>
        <p:spPr>
          <a:xfrm>
            <a:off x="4572000" y="4974336"/>
            <a:ext cx="5120640" cy="457200"/>
          </a:xfrm>
          <a:prstGeom prst="rect">
            <a:avLst/>
          </a:prstGeom>
          <a:noFill/>
          <a:ln/>
        </p:spPr>
        <p:txBody>
          <a:bodyPr wrap="square" lIns="0" tIns="0" rIns="0" bIns="0" rtlCol="0" anchor="ctr"/>
          <a:lstStyle/>
          <a:p>
            <a:pPr indent="0" marL="0">
              <a:buNone/>
            </a:pPr>
            <a:r>
              <a:rPr lang="en-US" sz="1600" dirty="0">
                <a:solidFill>
                  <a:schemeClr val="tx1"/>
                </a:solidFill>
              </a:rPr>
              <a:t>− no weather data at that time</a:t>
            </a:r>
            <a:endParaRPr lang="en-US" sz="1600" dirty="0"/>
          </a:p>
        </p:txBody>
      </p:sp>
      <p:sp>
        <p:nvSpPr>
          <p:cNvPr id="26" name="text_136"/>
          <p:cNvSpPr txBox="1"/>
          <p:nvPr/>
        </p:nvSpPr>
        <p:spPr>
          <a:xfrm>
            <a:off x="9784080" y="4974336"/>
            <a:ext cx="1828800" cy="457200"/>
          </a:xfrm>
          <a:prstGeom prst="rect">
            <a:avLst/>
          </a:prstGeom>
          <a:noFill/>
          <a:ln/>
        </p:spPr>
        <p:txBody>
          <a:bodyPr wrap="square" lIns="0" tIns="0" rIns="0" bIns="0" rtlCol="0" anchor="ctr"/>
          <a:lstStyle/>
          <a:p>
            <a:pPr algn="r" indent="0" marL="0">
              <a:buNone/>
            </a:pPr>
            <a:r>
              <a:rPr lang="en-US" sz="1600" b="1" dirty="0">
                <a:solidFill>
                  <a:schemeClr val="tx2"/>
                </a:solidFill>
              </a:rPr>
              <a:t>962</a:t>
            </a:r>
            <a:endParaRPr lang="en-US" sz="1600" dirty="0"/>
          </a:p>
        </p:txBody>
      </p:sp>
      <p:sp>
        <p:nvSpPr>
          <p:cNvPr id="27" name="text_137"/>
          <p:cNvSpPr txBox="1"/>
          <p:nvPr/>
        </p:nvSpPr>
        <p:spPr>
          <a:xfrm>
            <a:off x="4572000" y="5541264"/>
            <a:ext cx="5120640" cy="457200"/>
          </a:xfrm>
          <a:prstGeom prst="rect">
            <a:avLst/>
          </a:prstGeom>
          <a:noFill/>
          <a:ln/>
        </p:spPr>
        <p:txBody>
          <a:bodyPr wrap="square" lIns="0" tIns="0" rIns="0" bIns="0" rtlCol="0" anchor="ctr"/>
          <a:lstStyle/>
          <a:p>
            <a:pPr indent="0" marL="0">
              <a:buNone/>
            </a:pPr>
            <a:r>
              <a:rPr lang="en-US" sz="1600" dirty="0">
                <a:solidFill>
                  <a:schemeClr val="tx1"/>
                </a:solidFill>
              </a:rPr>
              <a:t>− rare routes</a:t>
            </a:r>
            <a:endParaRPr lang="en-US" sz="1600" dirty="0"/>
          </a:p>
        </p:txBody>
      </p:sp>
      <p:sp>
        <p:nvSpPr>
          <p:cNvPr id="28" name="text_138"/>
          <p:cNvSpPr txBox="1"/>
          <p:nvPr/>
        </p:nvSpPr>
        <p:spPr>
          <a:xfrm>
            <a:off x="9784080" y="5541264"/>
            <a:ext cx="1828800" cy="457200"/>
          </a:xfrm>
          <a:prstGeom prst="rect">
            <a:avLst/>
          </a:prstGeom>
          <a:noFill/>
          <a:ln/>
        </p:spPr>
        <p:txBody>
          <a:bodyPr wrap="square" lIns="0" tIns="0" rIns="0" bIns="0" rtlCol="0" anchor="ctr"/>
          <a:lstStyle/>
          <a:p>
            <a:pPr algn="r" indent="0" marL="0">
              <a:buNone/>
            </a:pPr>
            <a:r>
              <a:rPr lang="en-US" sz="1600" b="1" dirty="0">
                <a:solidFill>
                  <a:schemeClr val="tx2"/>
                </a:solidFill>
              </a:rPr>
              <a:t>155</a:t>
            </a:r>
            <a:endParaRPr lang="en-US" sz="1600" dirty="0"/>
          </a:p>
        </p:txBody>
      </p:sp>
      <p:sp>
        <p:nvSpPr>
          <p:cNvPr id="29" name="text_139"/>
          <p:cNvSpPr txBox="1"/>
          <p:nvPr/>
        </p:nvSpPr>
        <p:spPr>
          <a:xfrm>
            <a:off x="4572000" y="6172200"/>
            <a:ext cx="7040880" cy="320040"/>
          </a:xfrm>
          <a:prstGeom prst="rect">
            <a:avLst/>
          </a:prstGeom>
          <a:noFill/>
          <a:ln/>
        </p:spPr>
        <p:txBody>
          <a:bodyPr wrap="square" lIns="0" tIns="0" rIns="0" bIns="0" rtlCol="0" anchor="t"/>
          <a:lstStyle/>
          <a:p>
            <a:pPr indent="0" marL="0">
              <a:buNone/>
            </a:pPr>
            <a:r>
              <a:rPr lang="en-US" sz="1200" i="1" dirty="0">
                <a:solidFill>
                  <a:schemeClr val="accent3"/>
                </a:solidFill>
              </a:rPr>
              <a:t>Script: preprocessing/bentpipe_merger.py → Preprocessed_Data/bentpipe_Osnabrück.csv</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Why we also record the hops after 100.64.0.1</a:t>
            </a:r>
            <a:endParaRPr lang="en-US" sz="3200" dirty="0"/>
          </a:p>
        </p:txBody>
      </p:sp>
      <p:sp>
        <p:nvSpPr>
          <p:cNvPr id="3" name="card_140"/>
          <p:cNvSpPr/>
          <p:nvPr/>
        </p:nvSpPr>
        <p:spPr>
          <a:xfrm>
            <a:off x="548640" y="1280160"/>
            <a:ext cx="5120640" cy="4846320"/>
          </a:xfrm>
          <a:prstGeom prst="roundRect">
            <a:avLst>
              <a:gd name="adj" fmla="val 2264"/>
            </a:avLst>
          </a:prstGeom>
          <a:solidFill>
            <a:srgbClr val="EEF3F7"/>
          </a:solidFill>
          <a:ln w="12700">
            <a:solidFill>
              <a:srgbClr val="EEF3F7"/>
            </a:solidFill>
            <a:prstDash val="solid"/>
          </a:ln>
        </p:spPr>
      </p:sp>
      <p:sp>
        <p:nvSpPr>
          <p:cNvPr id="4" name="text_141"/>
          <p:cNvSpPr txBox="1"/>
          <p:nvPr/>
        </p:nvSpPr>
        <p:spPr>
          <a:xfrm>
            <a:off x="731520" y="1417320"/>
            <a:ext cx="4754880" cy="4572000"/>
          </a:xfrm>
          <a:prstGeom prst="rect">
            <a:avLst/>
          </a:prstGeom>
          <a:noFill/>
          <a:ln/>
        </p:spPr>
        <p:txBody>
          <a:bodyPr wrap="square" rtlCol="0" anchor="t"/>
          <a:lstStyle/>
          <a:p>
            <a:pPr marL="342900" indent="-342900">
              <a:spcAft>
                <a:spcPts val="600"/>
              </a:spcAft>
              <a:buSzPct val="100000"/>
              <a:buChar char="•"/>
            </a:pPr>
            <a:r>
              <a:rPr lang="en-US" sz="1600" dirty="0">
                <a:solidFill>
                  <a:schemeClr val="tx1"/>
                </a:solidFill>
              </a:rPr>
              <a:t>100.64.0.1 is the same address for every Starlink customer: it does not identify a specific machine</a:t>
            </a:r>
            <a:endParaRPr lang="en-US" sz="1600" dirty="0"/>
          </a:p>
          <a:p>
            <a:pPr marL="342900" indent="-342900">
              <a:spcAft>
                <a:spcPts val="600"/>
              </a:spcAft>
              <a:buSzPct val="100000"/>
              <a:buChar char="•"/>
            </a:pPr>
            <a:r>
              <a:rPr lang="en-US" sz="1600" dirty="0">
                <a:solidFill>
                  <a:schemeClr val="tx1"/>
                </a:solidFill>
              </a:rPr>
              <a:t>The next hops (Starlink internal + PoP routers) change when Starlink moves our traffic to other equipment</a:t>
            </a:r>
            <a:endParaRPr lang="en-US" sz="1600" dirty="0"/>
          </a:p>
          <a:p>
            <a:pPr marL="342900" indent="-342900">
              <a:spcAft>
                <a:spcPts val="600"/>
              </a:spcAft>
              <a:buSzPct val="100000"/>
              <a:buChar char="•"/>
            </a:pPr>
            <a:r>
              <a:rPr lang="en-US" sz="1600" dirty="0">
                <a:solidFill>
                  <a:schemeClr val="tx1"/>
                </a:solidFill>
              </a:rPr>
              <a:t>Other gateway or ground station → other fibre distance between ground station and gateway → bent-pipe RTT can change without any weather change</a:t>
            </a:r>
            <a:endParaRPr lang="en-US" sz="1600" dirty="0"/>
          </a:p>
          <a:p>
            <a:pPr marL="342900" indent="-342900">
              <a:spcAft>
                <a:spcPts val="600"/>
              </a:spcAft>
              <a:buSzPct val="100000"/>
              <a:buChar char="•"/>
            </a:pPr>
            <a:r>
              <a:rPr lang="en-US" sz="1600" dirty="0">
                <a:solidFill>
                  <a:schemeClr val="tx1"/>
                </a:solidFill>
              </a:rPr>
              <a:t>So the next 3 hops are stored as a route label; their RTT is not used</a:t>
            </a:r>
            <a:endParaRPr lang="en-US" sz="1600" dirty="0"/>
          </a:p>
        </p:txBody>
      </p:sp>
      <p:graphicFrame>
        <p:nvGraphicFramePr>
          <p:cNvPr id="10" name="table_142"/>
          <p:cNvGraphicFramePr>
            <a:graphicFrameLocks noGrp="1"/>
          </p:cNvGraphicFramePr>
          <p:nvPr>
            <p:extLst>
              <p:ext uri="{D42A27DB-BD31-4B8C-83A1-F6EECF244321}">
                <p14:modId xmlns:p14="http://schemas.microsoft.com/office/powerpoint/2010/main" val="1579011935"/>
              </p:ext>
            </p:extLst>
          </p:nvPr>
        </p:nvGraphicFramePr>
        <p:xfrm>
          <a:off x="5943600" y="1280160"/>
          <a:ext cx="5669280" cy="914400"/>
        </p:xfrm>
        <a:graphic>
          <a:graphicData uri="http://schemas.openxmlformats.org/drawingml/2006/table">
            <a:tbl>
              <a:tblPr/>
              <a:tblGrid>
                <a:gridCol w="640080"/>
                <a:gridCol w="2926080"/>
                <a:gridCol w="1234440"/>
                <a:gridCol w="868680"/>
              </a:tblGrid>
              <a:tr h="502920">
                <a:tc>
                  <a:txBody>
                    <a:bodyPr/>
                    <a:lstStyle/>
                    <a:p>
                      <a:pPr indent="0" marL="0">
                        <a:buNone/>
                      </a:pPr>
                      <a:r>
                        <a:rPr lang="en-US" sz="1200" b="1" dirty="0">
                          <a:solidFill>
                            <a:srgbClr val="FFFFFF"/>
                          </a:solidFill>
                        </a:rPr>
                        <a:t>Route</a:t>
                      </a:r>
                      <a:endParaRPr lang="en-US" sz="1200" dirty="0"/>
                    </a:p>
                  </a:txBody>
                  <a:tcPr marL="73152" marR="73152" marT="27432" marB="27432"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Hops 2–4</a:t>
                      </a:r>
                      <a:endParaRPr lang="en-US" sz="1200" dirty="0"/>
                    </a:p>
                  </a:txBody>
                  <a:tcPr marL="73152" marR="73152" marT="27432" marB="27432"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Period</a:t>
                      </a:r>
                      <a:endParaRPr lang="en-US" sz="1200" dirty="0"/>
                    </a:p>
                  </a:txBody>
                  <a:tcPr marL="73152" marR="73152" marT="27432" marB="27432"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Median RTT</a:t>
                      </a:r>
                      <a:endParaRPr lang="en-US" sz="1200" dirty="0"/>
                    </a:p>
                  </a:txBody>
                  <a:tcPr marL="73152" marR="73152" marT="27432" marB="27432"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14213D"/>
                    </a:solidFill>
                  </a:tcPr>
                </a:tc>
              </a:tr>
              <a:tr h="502920">
                <a:tc>
                  <a:txBody>
                    <a:bodyPr/>
                    <a:lstStyle/>
                    <a:p>
                      <a:pPr indent="0" marL="0">
                        <a:buNone/>
                      </a:pPr>
                      <a:r>
                        <a:rPr lang="en-US" sz="1200" dirty="0">
                          <a:solidFill>
                            <a:schemeClr val="tx1"/>
                          </a:solidFill>
                        </a:rPr>
                        <a:t>R1</a:t>
                      </a:r>
                      <a:endParaRPr lang="en-US" sz="1200" dirty="0"/>
                    </a:p>
                  </a:txBody>
                  <a:tcPr marL="73152" marR="73152" marT="27432" marB="27432"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00" dirty="0">
                          <a:solidFill>
                            <a:schemeClr val="tx1"/>
                          </a:solidFill>
                        </a:rPr>
                        <a:t>172.16.250.140 &gt; 206.224.65.194 &gt; 206.224.65.178</a:t>
                      </a:r>
                      <a:endParaRPr lang="en-US" sz="1200" dirty="0"/>
                    </a:p>
                  </a:txBody>
                  <a:tcPr marL="73152" marR="73152" marT="27432" marB="27432"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00" dirty="0">
                          <a:solidFill>
                            <a:schemeClr val="tx1"/>
                          </a:solidFill>
                        </a:rPr>
                        <a:t>Sep 14 – Dec 7</a:t>
                      </a:r>
                      <a:endParaRPr lang="en-US" sz="1200" dirty="0"/>
                    </a:p>
                  </a:txBody>
                  <a:tcPr marL="73152" marR="73152" marT="27432" marB="27432"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00" dirty="0">
                          <a:solidFill>
                            <a:schemeClr val="tx1"/>
                          </a:solidFill>
                        </a:rPr>
                        <a:t>32.3 ms</a:t>
                      </a:r>
                      <a:endParaRPr lang="en-US" sz="1200" dirty="0"/>
                    </a:p>
                  </a:txBody>
                  <a:tcPr marL="73152" marR="73152" marT="27432" marB="27432"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502920">
                <a:tc>
                  <a:txBody>
                    <a:bodyPr/>
                    <a:lstStyle/>
                    <a:p>
                      <a:pPr indent="0" marL="0">
                        <a:buNone/>
                      </a:pPr>
                      <a:r>
                        <a:rPr lang="en-US" sz="1200" dirty="0">
                          <a:solidFill>
                            <a:schemeClr val="tx1"/>
                          </a:solidFill>
                        </a:rPr>
                        <a:t>R2</a:t>
                      </a:r>
                      <a:endParaRPr lang="en-US" sz="1200" dirty="0"/>
                    </a:p>
                  </a:txBody>
                  <a:tcPr marL="73152" marR="73152" marT="27432" marB="27432"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00" dirty="0">
                          <a:solidFill>
                            <a:schemeClr val="tx1"/>
                          </a:solidFill>
                        </a:rPr>
                        <a:t>172.16.250.140 &gt; 206.224.65.206 &gt; 206.224.65.184</a:t>
                      </a:r>
                      <a:endParaRPr lang="en-US" sz="1200" dirty="0"/>
                    </a:p>
                  </a:txBody>
                  <a:tcPr marL="73152" marR="73152" marT="27432" marB="27432"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00" dirty="0">
                          <a:solidFill>
                            <a:schemeClr val="tx1"/>
                          </a:solidFill>
                        </a:rPr>
                        <a:t>Dec 5 – Dec 7</a:t>
                      </a:r>
                      <a:endParaRPr lang="en-US" sz="1200" dirty="0"/>
                    </a:p>
                  </a:txBody>
                  <a:tcPr marL="73152" marR="73152" marT="27432" marB="27432"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00" dirty="0">
                          <a:solidFill>
                            <a:schemeClr val="tx1"/>
                          </a:solidFill>
                        </a:rPr>
                        <a:t>31.9 ms</a:t>
                      </a:r>
                      <a:endParaRPr lang="en-US" sz="1200" dirty="0"/>
                    </a:p>
                  </a:txBody>
                  <a:tcPr marL="73152" marR="73152" marT="27432" marB="27432"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502920">
                <a:tc>
                  <a:txBody>
                    <a:bodyPr/>
                    <a:lstStyle/>
                    <a:p>
                      <a:pPr indent="0" marL="0">
                        <a:buNone/>
                      </a:pPr>
                      <a:r>
                        <a:rPr lang="en-US" sz="1200" dirty="0">
                          <a:solidFill>
                            <a:schemeClr val="tx1"/>
                          </a:solidFill>
                        </a:rPr>
                        <a:t>R3</a:t>
                      </a:r>
                      <a:endParaRPr lang="en-US" sz="1200" dirty="0"/>
                    </a:p>
                  </a:txBody>
                  <a:tcPr marL="73152" marR="73152" marT="27432" marB="27432"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00" dirty="0">
                          <a:solidFill>
                            <a:schemeClr val="tx1"/>
                          </a:solidFill>
                        </a:rPr>
                        <a:t>172.16.250.34 &gt; 206.224.65.198 &gt; 206.224.65.182</a:t>
                      </a:r>
                      <a:endParaRPr lang="en-US" sz="1200" dirty="0"/>
                    </a:p>
                  </a:txBody>
                  <a:tcPr marL="73152" marR="73152" marT="27432" marB="27432"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00" dirty="0">
                          <a:solidFill>
                            <a:schemeClr val="tx1"/>
                          </a:solidFill>
                        </a:rPr>
                        <a:t>Dec 19 – Mar 12</a:t>
                      </a:r>
                      <a:endParaRPr lang="en-US" sz="1200" dirty="0"/>
                    </a:p>
                  </a:txBody>
                  <a:tcPr marL="73152" marR="73152" marT="27432" marB="27432"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200" dirty="0">
                          <a:solidFill>
                            <a:schemeClr val="tx1"/>
                          </a:solidFill>
                        </a:rPr>
                        <a:t>28.5 ms</a:t>
                      </a:r>
                      <a:endParaRPr lang="en-US" sz="1200" dirty="0"/>
                    </a:p>
                  </a:txBody>
                  <a:tcPr marL="73152" marR="73152" marT="27432" marB="27432"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bl>
          </a:graphicData>
        </a:graphic>
      </p:graphicFrame>
      <p:sp>
        <p:nvSpPr>
          <p:cNvPr id="6" name="card_143"/>
          <p:cNvSpPr/>
          <p:nvPr/>
        </p:nvSpPr>
        <p:spPr>
          <a:xfrm>
            <a:off x="5943600" y="4160520"/>
            <a:ext cx="5669280" cy="1965960"/>
          </a:xfrm>
          <a:prstGeom prst="roundRect">
            <a:avLst>
              <a:gd name="adj" fmla="val 5581"/>
            </a:avLst>
          </a:prstGeom>
          <a:solidFill>
            <a:schemeClr val="bg2"/>
          </a:solidFill>
          <a:ln w="12700">
            <a:solidFill>
              <a:schemeClr val="bg2"/>
            </a:solidFill>
            <a:prstDash val="solid"/>
          </a:ln>
        </p:spPr>
      </p:sp>
      <p:sp>
        <p:nvSpPr>
          <p:cNvPr id="7" name="text_144"/>
          <p:cNvSpPr txBox="1"/>
          <p:nvPr/>
        </p:nvSpPr>
        <p:spPr>
          <a:xfrm>
            <a:off x="6126480" y="4251960"/>
            <a:ext cx="5303520" cy="411480"/>
          </a:xfrm>
          <a:prstGeom prst="rect">
            <a:avLst/>
          </a:prstGeom>
          <a:noFill/>
          <a:ln/>
        </p:spPr>
        <p:txBody>
          <a:bodyPr wrap="square" rtlCol="0" anchor="t"/>
          <a:lstStyle/>
          <a:p>
            <a:pPr indent="0" marL="0">
              <a:buNone/>
            </a:pPr>
            <a:r>
              <a:rPr lang="en-US" sz="1800" b="1" dirty="0">
                <a:solidFill>
                  <a:schemeClr val="tx2"/>
                </a:solidFill>
                <a:latin typeface="Cambria" pitchFamily="34" charset="0"/>
                <a:ea typeface="Cambria" pitchFamily="34" charset="-122"/>
                <a:cs typeface="Cambria" pitchFamily="34" charset="-120"/>
              </a:rPr>
              <a:t>Three routes at Osnabrück</a:t>
            </a:r>
            <a:endParaRPr lang="en-US" sz="1800" dirty="0"/>
          </a:p>
        </p:txBody>
      </p:sp>
      <p:sp>
        <p:nvSpPr>
          <p:cNvPr id="8" name="text_145"/>
          <p:cNvSpPr txBox="1"/>
          <p:nvPr/>
        </p:nvSpPr>
        <p:spPr>
          <a:xfrm>
            <a:off x="6126480" y="4663440"/>
            <a:ext cx="5303520" cy="1371600"/>
          </a:xfrm>
          <a:prstGeom prst="rect">
            <a:avLst/>
          </a:prstGeom>
          <a:noFill/>
          <a:ln/>
        </p:spPr>
        <p:txBody>
          <a:bodyPr wrap="square" rtlCol="0" anchor="t"/>
          <a:lstStyle/>
          <a:p>
            <a:pPr indent="0" marL="0">
              <a:buNone/>
            </a:pPr>
            <a:r>
              <a:rPr lang="en-US" sz="1500" dirty="0">
                <a:solidFill>
                  <a:schemeClr val="tx1"/>
                </a:solidFill>
              </a:rPr>
              <a:t>18,711 runs on R1, 477 on R2, 18,391 on R3. The route changed twice; between Dec 7 and Dec 19 there is no data. R3 has a lower median RTT — next slide: is that the route or the month?</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Lower RTT in the later months: route or month?</a:t>
            </a:r>
            <a:endParaRPr lang="en-US" sz="3200" dirty="0"/>
          </a:p>
        </p:txBody>
      </p:sp>
      <p:pic>
        <p:nvPicPr>
          <p:cNvPr id="3" name="figure_146" descr="/tmp/claude-1000/-home-jayyanth-Downloads-MTP-satelite-networks-satellite-weather-WetLinks/61c5169f-4506-4e61-86e2-175f001a73f9/scratchpad/doc/fig2a.png">    </p:cNvPr>
          <p:cNvPicPr>
            <a:picLocks noChangeAspect="1"/>
          </p:cNvPicPr>
          <p:nvPr/>
        </p:nvPicPr>
        <p:blipFill>
          <a:blip r:embed="rId1"/>
          <a:stretch>
            <a:fillRect/>
          </a:stretch>
        </p:blipFill>
        <p:spPr>
          <a:xfrm>
            <a:off x="548640" y="1188720"/>
            <a:ext cx="7498080" cy="3717535"/>
          </a:xfrm>
          <a:prstGeom prst="rect">
            <a:avLst/>
          </a:prstGeom>
        </p:spPr>
      </p:pic>
      <p:sp>
        <p:nvSpPr>
          <p:cNvPr id="4" name="text_147"/>
          <p:cNvSpPr txBox="1"/>
          <p:nvPr/>
        </p:nvSpPr>
        <p:spPr>
          <a:xfrm>
            <a:off x="548640" y="4983480"/>
            <a:ext cx="7498080" cy="548640"/>
          </a:xfrm>
          <a:prstGeom prst="rect">
            <a:avLst/>
          </a:prstGeom>
          <a:noFill/>
          <a:ln/>
        </p:spPr>
        <p:txBody>
          <a:bodyPr wrap="square" rtlCol="0" anchor="t"/>
          <a:lstStyle/>
          <a:p>
            <a:pPr indent="0" marL="0">
              <a:buNone/>
            </a:pPr>
            <a:r>
              <a:rPr lang="en-US" sz="1200" i="1" dirty="0">
                <a:solidFill>
                  <a:schemeClr val="accent3"/>
                </a:solidFill>
              </a:rPr>
              <a:t>Daily median bent-pipe RTT of dry runs per route, 7-day rolling median; daily rain below (notebook Step 2a).</a:t>
            </a:r>
            <a:endParaRPr lang="en-US" sz="1200" dirty="0"/>
          </a:p>
        </p:txBody>
      </p:sp>
      <p:sp>
        <p:nvSpPr>
          <p:cNvPr id="5" name="card_148"/>
          <p:cNvSpPr/>
          <p:nvPr/>
        </p:nvSpPr>
        <p:spPr>
          <a:xfrm>
            <a:off x="8321040" y="1188720"/>
            <a:ext cx="3291840" cy="4937760"/>
          </a:xfrm>
          <a:prstGeom prst="roundRect">
            <a:avLst>
              <a:gd name="adj" fmla="val 3333"/>
            </a:avLst>
          </a:prstGeom>
          <a:solidFill>
            <a:srgbClr val="EEF3F7"/>
          </a:solidFill>
          <a:ln w="12700">
            <a:solidFill>
              <a:srgbClr val="EEF3F7"/>
            </a:solidFill>
            <a:prstDash val="solid"/>
          </a:ln>
        </p:spPr>
      </p:sp>
      <p:sp>
        <p:nvSpPr>
          <p:cNvPr id="6" name="text_149"/>
          <p:cNvSpPr txBox="1"/>
          <p:nvPr/>
        </p:nvSpPr>
        <p:spPr>
          <a:xfrm>
            <a:off x="8503920" y="1325880"/>
            <a:ext cx="2926080" cy="411480"/>
          </a:xfrm>
          <a:prstGeom prst="rect">
            <a:avLst/>
          </a:prstGeom>
          <a:noFill/>
          <a:ln/>
        </p:spPr>
        <p:txBody>
          <a:bodyPr wrap="square" rtlCol="0" anchor="t"/>
          <a:lstStyle/>
          <a:p>
            <a:pPr indent="0" marL="0">
              <a:buNone/>
            </a:pPr>
            <a:r>
              <a:rPr lang="en-US" sz="2000" b="1" dirty="0">
                <a:solidFill>
                  <a:schemeClr val="accent5"/>
                </a:solidFill>
                <a:latin typeface="Cambria" pitchFamily="34" charset="0"/>
                <a:ea typeface="Cambria" pitchFamily="34" charset="-122"/>
                <a:cs typeface="Cambria" pitchFamily="34" charset="-120"/>
              </a:rPr>
              <a:t>Open question</a:t>
            </a:r>
            <a:endParaRPr lang="en-US" sz="2000" dirty="0"/>
          </a:p>
        </p:txBody>
      </p:sp>
      <p:sp>
        <p:nvSpPr>
          <p:cNvPr id="7" name="text_150"/>
          <p:cNvSpPr txBox="1"/>
          <p:nvPr/>
        </p:nvSpPr>
        <p:spPr>
          <a:xfrm>
            <a:off x="8503920" y="1783080"/>
            <a:ext cx="2926080" cy="4206240"/>
          </a:xfrm>
          <a:prstGeom prst="rect">
            <a:avLst/>
          </a:prstGeom>
          <a:noFill/>
          <a:ln/>
        </p:spPr>
        <p:txBody>
          <a:bodyPr wrap="square" rtlCol="0" anchor="t"/>
          <a:lstStyle/>
          <a:p>
            <a:pPr marL="342900" indent="-342900">
              <a:spcAft>
                <a:spcPts val="600"/>
              </a:spcAft>
              <a:buSzPct val="100000"/>
              <a:buChar char="•"/>
            </a:pPr>
            <a:r>
              <a:rPr lang="en-US" sz="1500" dirty="0">
                <a:solidFill>
                  <a:schemeClr val="tx1"/>
                </a:solidFill>
              </a:rPr>
              <a:t>Autumn ≈ 32 ms, March ≈ 26 ms</a:t>
            </a:r>
            <a:endParaRPr lang="en-US" sz="1600" dirty="0"/>
          </a:p>
          <a:p>
            <a:pPr marL="342900" indent="-342900">
              <a:spcAft>
                <a:spcPts val="600"/>
              </a:spcAft>
              <a:buSzPct val="100000"/>
              <a:buChar char="•"/>
            </a:pPr>
            <a:r>
              <a:rPr lang="en-US" sz="1500" dirty="0">
                <a:solidFill>
                  <a:schemeClr val="tx1"/>
                </a:solidFill>
              </a:rPr>
              <a:t>R3 starts at ≈ 32.5 ms, the same as R1</a:t>
            </a:r>
            <a:endParaRPr lang="en-US" sz="1600" dirty="0"/>
          </a:p>
          <a:p>
            <a:pPr marL="342900" indent="-342900">
              <a:spcAft>
                <a:spcPts val="600"/>
              </a:spcAft>
              <a:buSzPct val="100000"/>
              <a:buChar char="•"/>
            </a:pPr>
            <a:r>
              <a:rPr lang="en-US" sz="1500" dirty="0">
                <a:solidFill>
                  <a:schemeClr val="tx1"/>
                </a:solidFill>
              </a:rPr>
              <a:t>The drop comes later, in steps (mid-Jan, late Feb), while the route label stays R3</a:t>
            </a:r>
            <a:endParaRPr lang="en-US" sz="1600" dirty="0"/>
          </a:p>
          <a:p>
            <a:pPr marL="342900" indent="-342900">
              <a:spcAft>
                <a:spcPts val="600"/>
              </a:spcAft>
              <a:buSzPct val="100000"/>
              <a:buChar char="•"/>
            </a:pPr>
            <a:r>
              <a:rPr lang="en-US" sz="1500" dirty="0">
                <a:solidFill>
                  <a:schemeClr val="tx1"/>
                </a:solidFill>
              </a:rPr>
              <a:t>Cause unknown: hidden network change or seasonal effect</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Idea: estimate the dry RTT, keep the difference</a:t>
            </a:r>
            <a:endParaRPr lang="en-US" sz="3200" dirty="0"/>
          </a:p>
        </p:txBody>
      </p:sp>
      <p:sp>
        <p:nvSpPr>
          <p:cNvPr id="3" name="text_151"/>
          <p:cNvSpPr txBox="1"/>
          <p:nvPr/>
        </p:nvSpPr>
        <p:spPr>
          <a:xfrm>
            <a:off x="548640" y="1234440"/>
            <a:ext cx="11064240" cy="640080"/>
          </a:xfrm>
          <a:prstGeom prst="rect">
            <a:avLst/>
          </a:prstGeom>
          <a:noFill/>
          <a:ln/>
        </p:spPr>
        <p:txBody>
          <a:bodyPr wrap="square" rtlCol="0" anchor="t"/>
          <a:lstStyle/>
          <a:p>
            <a:pPr indent="0" marL="0">
              <a:buNone/>
            </a:pPr>
            <a:r>
              <a:rPr lang="en-US" sz="1600" dirty="0">
                <a:solidFill>
                  <a:schemeClr val="tx1"/>
                </a:solidFill>
              </a:rPr>
              <a:t>Learn from the </a:t>
            </a:r>
            <a:pPr indent="0" marL="0">
              <a:buNone/>
            </a:pPr>
            <a:r>
              <a:rPr lang="en-US" sz="1600" b="1" dirty="0">
                <a:solidFill>
                  <a:schemeClr val="tx1"/>
                </a:solidFill>
              </a:rPr>
              <a:t>dry runs</a:t>
            </a:r>
            <a:pPr indent="0" marL="0">
              <a:buNone/>
            </a:pPr>
            <a:r>
              <a:rPr lang="en-US" sz="1600" dirty="0">
                <a:solidFill>
                  <a:schemeClr val="tx1"/>
                </a:solidFill>
              </a:rPr>
              <a:t> (no rain now and none in the previous 60 min) what the RTT normally is at a given day and hour:</a:t>
            </a:r>
            <a:endParaRPr lang="en-US" sz="1600" dirty="0"/>
          </a:p>
        </p:txBody>
      </p:sp>
      <p:sp>
        <p:nvSpPr>
          <p:cNvPr id="4" name="card_152"/>
          <p:cNvSpPr/>
          <p:nvPr/>
        </p:nvSpPr>
        <p:spPr>
          <a:xfrm>
            <a:off x="548640" y="2011680"/>
            <a:ext cx="11064240" cy="822960"/>
          </a:xfrm>
          <a:prstGeom prst="roundRect">
            <a:avLst>
              <a:gd name="adj" fmla="val 13333"/>
            </a:avLst>
          </a:prstGeom>
          <a:solidFill>
            <a:srgbClr val="14213D"/>
          </a:solidFill>
          <a:ln w="12700">
            <a:solidFill>
              <a:srgbClr val="14213D"/>
            </a:solidFill>
            <a:prstDash val="solid"/>
          </a:ln>
        </p:spPr>
      </p:sp>
      <p:sp>
        <p:nvSpPr>
          <p:cNvPr id="5" name="text_153"/>
          <p:cNvSpPr txBox="1"/>
          <p:nvPr/>
        </p:nvSpPr>
        <p:spPr>
          <a:xfrm>
            <a:off x="731520" y="2011680"/>
            <a:ext cx="10698480" cy="822960"/>
          </a:xfrm>
          <a:prstGeom prst="rect">
            <a:avLst/>
          </a:prstGeom>
          <a:noFill/>
          <a:ln/>
        </p:spPr>
        <p:txBody>
          <a:bodyPr wrap="square" rtlCol="0" anchor="ctr"/>
          <a:lstStyle/>
          <a:p>
            <a:pPr indent="0" marL="0">
              <a:buNone/>
            </a:pPr>
            <a:r>
              <a:rPr lang="en-US" sz="1800" dirty="0">
                <a:solidFill>
                  <a:schemeClr val="bg1"/>
                </a:solidFill>
                <a:latin typeface="Courier New" pitchFamily="34" charset="0"/>
                <a:ea typeface="Courier New" pitchFamily="34" charset="-122"/>
                <a:cs typeface="Courier New" pitchFamily="34" charset="-120"/>
              </a:rPr>
              <a:t>dry_run_function(day, hour)  →  estimated RTT if there were no rain</a:t>
            </a:r>
            <a:endParaRPr lang="en-US" sz="1800" dirty="0"/>
          </a:p>
        </p:txBody>
      </p:sp>
      <p:sp>
        <p:nvSpPr>
          <p:cNvPr id="6" name="card_154"/>
          <p:cNvSpPr/>
          <p:nvPr/>
        </p:nvSpPr>
        <p:spPr>
          <a:xfrm>
            <a:off x="822960" y="3154680"/>
            <a:ext cx="2651760" cy="1828800"/>
          </a:xfrm>
          <a:prstGeom prst="roundRect">
            <a:avLst>
              <a:gd name="adj" fmla="val 6000"/>
            </a:avLst>
          </a:prstGeom>
          <a:solidFill>
            <a:srgbClr val="EEF3F7"/>
          </a:solidFill>
          <a:ln w="12700">
            <a:solidFill>
              <a:srgbClr val="EEF3F7"/>
            </a:solidFill>
            <a:prstDash val="solid"/>
          </a:ln>
        </p:spPr>
      </p:sp>
      <p:sp>
        <p:nvSpPr>
          <p:cNvPr id="7" name="text_155"/>
          <p:cNvSpPr txBox="1"/>
          <p:nvPr/>
        </p:nvSpPr>
        <p:spPr>
          <a:xfrm>
            <a:off x="822960" y="3246120"/>
            <a:ext cx="2651760" cy="914400"/>
          </a:xfrm>
          <a:prstGeom prst="rect">
            <a:avLst/>
          </a:prstGeom>
          <a:noFill/>
          <a:ln/>
        </p:spPr>
        <p:txBody>
          <a:bodyPr wrap="square" rtlCol="0" anchor="ctr"/>
          <a:lstStyle/>
          <a:p>
            <a:pPr algn="ctr" indent="0" marL="0">
              <a:buNone/>
            </a:pPr>
            <a:r>
              <a:rPr lang="en-US" sz="4400" b="1" dirty="0">
                <a:solidFill>
                  <a:schemeClr val="tx2"/>
                </a:solidFill>
                <a:latin typeface="Cambria" pitchFamily="34" charset="0"/>
                <a:ea typeface="Cambria" pitchFamily="34" charset="-122"/>
                <a:cs typeface="Cambria" pitchFamily="34" charset="-120"/>
              </a:rPr>
              <a:t>34 ms</a:t>
            </a:r>
            <a:endParaRPr lang="en-US" sz="4400" dirty="0"/>
          </a:p>
        </p:txBody>
      </p:sp>
      <p:sp>
        <p:nvSpPr>
          <p:cNvPr id="8" name="text_156"/>
          <p:cNvSpPr txBox="1"/>
          <p:nvPr/>
        </p:nvSpPr>
        <p:spPr>
          <a:xfrm>
            <a:off x="822960" y="4160520"/>
            <a:ext cx="2651760" cy="731520"/>
          </a:xfrm>
          <a:prstGeom prst="rect">
            <a:avLst/>
          </a:prstGeom>
          <a:noFill/>
          <a:ln/>
        </p:spPr>
        <p:txBody>
          <a:bodyPr wrap="square" rtlCol="0" anchor="t"/>
          <a:lstStyle/>
          <a:p>
            <a:pPr algn="ctr" indent="0" marL="0">
              <a:buNone/>
            </a:pPr>
            <a:r>
              <a:rPr lang="en-US" sz="1500" dirty="0">
                <a:solidFill>
                  <a:schemeClr val="tx2"/>
                </a:solidFill>
              </a:rPr>
              <a:t>measured RTT</a:t>
            </a:r>
            <a:endParaRPr lang="en-US" sz="1500" dirty="0"/>
          </a:p>
          <a:p>
            <a:pPr algn="ctr" indent="0" marL="0">
              <a:buNone/>
            </a:pPr>
            <a:r>
              <a:rPr lang="en-US" sz="1500" dirty="0">
                <a:solidFill>
                  <a:schemeClr val="tx2"/>
                </a:solidFill>
              </a:rPr>
              <a:t>day 23, hour 3</a:t>
            </a:r>
            <a:endParaRPr lang="en-US" sz="1500" dirty="0"/>
          </a:p>
        </p:txBody>
      </p:sp>
      <p:sp>
        <p:nvSpPr>
          <p:cNvPr id="9" name="text_157"/>
          <p:cNvSpPr txBox="1"/>
          <p:nvPr/>
        </p:nvSpPr>
        <p:spPr>
          <a:xfrm>
            <a:off x="3611880" y="3291840"/>
            <a:ext cx="822960" cy="1188720"/>
          </a:xfrm>
          <a:prstGeom prst="rect">
            <a:avLst/>
          </a:prstGeom>
          <a:noFill/>
          <a:ln/>
        </p:spPr>
        <p:txBody>
          <a:bodyPr wrap="square" rtlCol="0" anchor="ctr"/>
          <a:lstStyle/>
          <a:p>
            <a:pPr algn="ctr" indent="0" marL="0">
              <a:buNone/>
            </a:pPr>
            <a:r>
              <a:rPr lang="en-US" sz="4800" b="1" dirty="0">
                <a:solidFill>
                  <a:schemeClr val="accent3"/>
                </a:solidFill>
              </a:rPr>
              <a:t>−</a:t>
            </a:r>
            <a:endParaRPr lang="en-US" sz="4800" dirty="0"/>
          </a:p>
        </p:txBody>
      </p:sp>
      <p:sp>
        <p:nvSpPr>
          <p:cNvPr id="10" name="card_158"/>
          <p:cNvSpPr/>
          <p:nvPr/>
        </p:nvSpPr>
        <p:spPr>
          <a:xfrm>
            <a:off x="4434840" y="3154680"/>
            <a:ext cx="2651760" cy="1828800"/>
          </a:xfrm>
          <a:prstGeom prst="roundRect">
            <a:avLst>
              <a:gd name="adj" fmla="val 6000"/>
            </a:avLst>
          </a:prstGeom>
          <a:solidFill>
            <a:srgbClr val="EEF3F7"/>
          </a:solidFill>
          <a:ln w="12700">
            <a:solidFill>
              <a:srgbClr val="EEF3F7"/>
            </a:solidFill>
            <a:prstDash val="solid"/>
          </a:ln>
        </p:spPr>
      </p:sp>
      <p:sp>
        <p:nvSpPr>
          <p:cNvPr id="11" name="text_159"/>
          <p:cNvSpPr txBox="1"/>
          <p:nvPr/>
        </p:nvSpPr>
        <p:spPr>
          <a:xfrm>
            <a:off x="4434840" y="3246120"/>
            <a:ext cx="2651760" cy="914400"/>
          </a:xfrm>
          <a:prstGeom prst="rect">
            <a:avLst/>
          </a:prstGeom>
          <a:noFill/>
          <a:ln/>
        </p:spPr>
        <p:txBody>
          <a:bodyPr wrap="square" rtlCol="0" anchor="ctr"/>
          <a:lstStyle/>
          <a:p>
            <a:pPr algn="ctr" indent="0" marL="0">
              <a:buNone/>
            </a:pPr>
            <a:r>
              <a:rPr lang="en-US" sz="4400" b="1" dirty="0">
                <a:solidFill>
                  <a:schemeClr val="tx2"/>
                </a:solidFill>
                <a:latin typeface="Cambria" pitchFamily="34" charset="0"/>
                <a:ea typeface="Cambria" pitchFamily="34" charset="-122"/>
                <a:cs typeface="Cambria" pitchFamily="34" charset="-120"/>
              </a:rPr>
              <a:t>31 ms</a:t>
            </a:r>
            <a:endParaRPr lang="en-US" sz="4400" dirty="0"/>
          </a:p>
        </p:txBody>
      </p:sp>
      <p:sp>
        <p:nvSpPr>
          <p:cNvPr id="12" name="text_160"/>
          <p:cNvSpPr txBox="1"/>
          <p:nvPr/>
        </p:nvSpPr>
        <p:spPr>
          <a:xfrm>
            <a:off x="4434840" y="4160520"/>
            <a:ext cx="2651760" cy="731520"/>
          </a:xfrm>
          <a:prstGeom prst="rect">
            <a:avLst/>
          </a:prstGeom>
          <a:noFill/>
          <a:ln/>
        </p:spPr>
        <p:txBody>
          <a:bodyPr wrap="square" rtlCol="0" anchor="t"/>
          <a:lstStyle/>
          <a:p>
            <a:pPr algn="ctr" indent="0" marL="0">
              <a:buNone/>
            </a:pPr>
            <a:r>
              <a:rPr lang="en-US" sz="1500" dirty="0">
                <a:solidFill>
                  <a:schemeClr val="tx2"/>
                </a:solidFill>
              </a:rPr>
              <a:t>dry_run_function</a:t>
            </a:r>
            <a:endParaRPr lang="en-US" sz="1500" dirty="0"/>
          </a:p>
          <a:p>
            <a:pPr algn="ctr" indent="0" marL="0">
              <a:buNone/>
            </a:pPr>
            <a:r>
              <a:rPr lang="en-US" sz="1500" dirty="0">
                <a:solidFill>
                  <a:schemeClr val="tx2"/>
                </a:solidFill>
              </a:rPr>
              <a:t>(23, 3)</a:t>
            </a:r>
            <a:endParaRPr lang="en-US" sz="1500" dirty="0"/>
          </a:p>
        </p:txBody>
      </p:sp>
      <p:sp>
        <p:nvSpPr>
          <p:cNvPr id="13" name="text_161"/>
          <p:cNvSpPr txBox="1"/>
          <p:nvPr/>
        </p:nvSpPr>
        <p:spPr>
          <a:xfrm>
            <a:off x="7223760" y="3291840"/>
            <a:ext cx="822960" cy="1188720"/>
          </a:xfrm>
          <a:prstGeom prst="rect">
            <a:avLst/>
          </a:prstGeom>
          <a:noFill/>
          <a:ln/>
        </p:spPr>
        <p:txBody>
          <a:bodyPr wrap="square" rtlCol="0" anchor="ctr"/>
          <a:lstStyle/>
          <a:p>
            <a:pPr algn="ctr" indent="0" marL="0">
              <a:buNone/>
            </a:pPr>
            <a:r>
              <a:rPr lang="en-US" sz="4800" b="1" dirty="0">
                <a:solidFill>
                  <a:schemeClr val="accent3"/>
                </a:solidFill>
              </a:rPr>
              <a:t>=</a:t>
            </a:r>
            <a:endParaRPr lang="en-US" sz="4800" dirty="0"/>
          </a:p>
        </p:txBody>
      </p:sp>
      <p:sp>
        <p:nvSpPr>
          <p:cNvPr id="14" name="card_162"/>
          <p:cNvSpPr/>
          <p:nvPr/>
        </p:nvSpPr>
        <p:spPr>
          <a:xfrm>
            <a:off x="8046720" y="3154680"/>
            <a:ext cx="2651760" cy="1828800"/>
          </a:xfrm>
          <a:prstGeom prst="roundRect">
            <a:avLst>
              <a:gd name="adj" fmla="val 6000"/>
            </a:avLst>
          </a:prstGeom>
          <a:solidFill>
            <a:srgbClr val="F2A541"/>
          </a:solidFill>
          <a:ln w="12700">
            <a:solidFill>
              <a:srgbClr val="F2A541"/>
            </a:solidFill>
            <a:prstDash val="solid"/>
          </a:ln>
        </p:spPr>
      </p:sp>
      <p:sp>
        <p:nvSpPr>
          <p:cNvPr id="15" name="text_163"/>
          <p:cNvSpPr txBox="1"/>
          <p:nvPr/>
        </p:nvSpPr>
        <p:spPr>
          <a:xfrm>
            <a:off x="8046720" y="3246120"/>
            <a:ext cx="2651760" cy="914400"/>
          </a:xfrm>
          <a:prstGeom prst="rect">
            <a:avLst/>
          </a:prstGeom>
          <a:noFill/>
          <a:ln/>
        </p:spPr>
        <p:txBody>
          <a:bodyPr wrap="square" rtlCol="0" anchor="ctr"/>
          <a:lstStyle/>
          <a:p>
            <a:pPr algn="ctr" indent="0" marL="0">
              <a:buNone/>
            </a:pPr>
            <a:r>
              <a:rPr lang="en-US" sz="4400" b="1" dirty="0">
                <a:solidFill>
                  <a:schemeClr val="tx2"/>
                </a:solidFill>
                <a:latin typeface="Cambria" pitchFamily="34" charset="0"/>
                <a:ea typeface="Cambria" pitchFamily="34" charset="-122"/>
                <a:cs typeface="Cambria" pitchFamily="34" charset="-120"/>
              </a:rPr>
              <a:t>3 ms</a:t>
            </a:r>
            <a:endParaRPr lang="en-US" sz="4400" dirty="0"/>
          </a:p>
        </p:txBody>
      </p:sp>
      <p:sp>
        <p:nvSpPr>
          <p:cNvPr id="16" name="text_164"/>
          <p:cNvSpPr txBox="1"/>
          <p:nvPr/>
        </p:nvSpPr>
        <p:spPr>
          <a:xfrm>
            <a:off x="8046720" y="4160520"/>
            <a:ext cx="2651760" cy="731520"/>
          </a:xfrm>
          <a:prstGeom prst="rect">
            <a:avLst/>
          </a:prstGeom>
          <a:noFill/>
          <a:ln/>
        </p:spPr>
        <p:txBody>
          <a:bodyPr wrap="square" rtlCol="0" anchor="t"/>
          <a:lstStyle/>
          <a:p>
            <a:pPr algn="ctr" indent="0" marL="0">
              <a:buNone/>
            </a:pPr>
            <a:r>
              <a:rPr lang="en-US" sz="1500" dirty="0">
                <a:solidFill>
                  <a:schemeClr val="tx2"/>
                </a:solidFill>
              </a:rPr>
              <a:t>excess_rtt</a:t>
            </a:r>
            <a:endParaRPr lang="en-US" sz="1500" dirty="0"/>
          </a:p>
        </p:txBody>
      </p:sp>
      <p:sp>
        <p:nvSpPr>
          <p:cNvPr id="17" name="text_165"/>
          <p:cNvSpPr txBox="1"/>
          <p:nvPr/>
        </p:nvSpPr>
        <p:spPr>
          <a:xfrm>
            <a:off x="548640" y="5257800"/>
            <a:ext cx="11064240" cy="1097280"/>
          </a:xfrm>
          <a:prstGeom prst="rect">
            <a:avLst/>
          </a:prstGeom>
          <a:noFill/>
          <a:ln/>
        </p:spPr>
        <p:txBody>
          <a:bodyPr wrap="square" rtlCol="0" anchor="t"/>
          <a:lstStyle/>
          <a:p>
            <a:pPr marL="342900" indent="-342900">
              <a:spcAft>
                <a:spcPts val="600"/>
              </a:spcAft>
              <a:buSzPct val="100000"/>
              <a:buChar char="•"/>
            </a:pPr>
            <a:r>
              <a:rPr lang="en-US" sz="1600" dirty="0">
                <a:solidFill>
                  <a:schemeClr val="tx1"/>
                </a:solidFill>
              </a:rPr>
              <a:t>excess_rtt is calculated for every run, dry and rainy; day and hour effects are already inside the estimate, so they drop out</a:t>
            </a:r>
            <a:endParaRPr lang="en-US" sz="1600" dirty="0"/>
          </a:p>
          <a:p>
            <a:pPr marL="342900" indent="-342900">
              <a:spcAft>
                <a:spcPts val="600"/>
              </a:spcAft>
              <a:buSzPct val="100000"/>
              <a:buChar char="•"/>
            </a:pPr>
            <a:r>
              <a:rPr lang="en-US" sz="1600" dirty="0">
                <a:solidFill>
                  <a:schemeClr val="tx1"/>
                </a:solidFill>
              </a:rPr>
              <a:t>Then: is there a correlation between excess_rtt and rain? If rain slows the bent-pipe, rainy runs have a larger excess_rtt</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The estimation function: level + hour correction</a:t>
            </a:r>
            <a:endParaRPr lang="en-US" sz="3200" dirty="0"/>
          </a:p>
        </p:txBody>
      </p:sp>
      <p:sp>
        <p:nvSpPr>
          <p:cNvPr id="3" name="card_166"/>
          <p:cNvSpPr/>
          <p:nvPr/>
        </p:nvSpPr>
        <p:spPr>
          <a:xfrm>
            <a:off x="548640" y="1234440"/>
            <a:ext cx="5486400" cy="1554480"/>
          </a:xfrm>
          <a:prstGeom prst="roundRect">
            <a:avLst>
              <a:gd name="adj" fmla="val 7059"/>
            </a:avLst>
          </a:prstGeom>
          <a:solidFill>
            <a:srgbClr val="EEF3F7"/>
          </a:solidFill>
          <a:ln w="12700">
            <a:solidFill>
              <a:srgbClr val="EEF3F7"/>
            </a:solidFill>
            <a:prstDash val="solid"/>
          </a:ln>
        </p:spPr>
      </p:sp>
      <p:sp>
        <p:nvSpPr>
          <p:cNvPr id="4" name="text_167"/>
          <p:cNvSpPr txBox="1"/>
          <p:nvPr/>
        </p:nvSpPr>
        <p:spPr>
          <a:xfrm>
            <a:off x="731520" y="1325880"/>
            <a:ext cx="5120640" cy="411480"/>
          </a:xfrm>
          <a:prstGeom prst="rect">
            <a:avLst/>
          </a:prstGeom>
          <a:noFill/>
          <a:ln/>
        </p:spPr>
        <p:txBody>
          <a:bodyPr wrap="square"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level(day)</a:t>
            </a:r>
            <a:endParaRPr lang="en-US" sz="1800" dirty="0"/>
          </a:p>
        </p:txBody>
      </p:sp>
      <p:sp>
        <p:nvSpPr>
          <p:cNvPr id="5" name="text_168"/>
          <p:cNvSpPr txBox="1"/>
          <p:nvPr/>
        </p:nvSpPr>
        <p:spPr>
          <a:xfrm>
            <a:off x="731520" y="1737360"/>
            <a:ext cx="5120640" cy="1005840"/>
          </a:xfrm>
          <a:prstGeom prst="rect">
            <a:avLst/>
          </a:prstGeom>
          <a:noFill/>
          <a:ln/>
        </p:spPr>
        <p:txBody>
          <a:bodyPr wrap="square" rtlCol="0" anchor="t"/>
          <a:lstStyle/>
          <a:p>
            <a:pPr indent="0" marL="0">
              <a:buNone/>
            </a:pPr>
            <a:r>
              <a:rPr lang="en-US" sz="1500" dirty="0">
                <a:solidFill>
                  <a:schemeClr val="tx1"/>
                </a:solidFill>
              </a:rPr>
              <a:t>Median RTT of all dry runs from 3 days before to 3 days after the day. Follows the change over the months.</a:t>
            </a:r>
            <a:endParaRPr lang="en-US" sz="1500" dirty="0"/>
          </a:p>
        </p:txBody>
      </p:sp>
      <p:sp>
        <p:nvSpPr>
          <p:cNvPr id="6" name="card_169"/>
          <p:cNvSpPr/>
          <p:nvPr/>
        </p:nvSpPr>
        <p:spPr>
          <a:xfrm>
            <a:off x="6126480" y="1234440"/>
            <a:ext cx="5486400" cy="1554480"/>
          </a:xfrm>
          <a:prstGeom prst="roundRect">
            <a:avLst>
              <a:gd name="adj" fmla="val 7059"/>
            </a:avLst>
          </a:prstGeom>
          <a:solidFill>
            <a:srgbClr val="EEF3F7"/>
          </a:solidFill>
          <a:ln w="12700">
            <a:solidFill>
              <a:srgbClr val="EEF3F7"/>
            </a:solidFill>
            <a:prstDash val="solid"/>
          </a:ln>
        </p:spPr>
      </p:sp>
      <p:sp>
        <p:nvSpPr>
          <p:cNvPr id="7" name="text_170"/>
          <p:cNvSpPr txBox="1"/>
          <p:nvPr/>
        </p:nvSpPr>
        <p:spPr>
          <a:xfrm>
            <a:off x="6309360" y="1325880"/>
            <a:ext cx="5120640" cy="411480"/>
          </a:xfrm>
          <a:prstGeom prst="rect">
            <a:avLst/>
          </a:prstGeom>
          <a:noFill/>
          <a:ln/>
        </p:spPr>
        <p:txBody>
          <a:bodyPr wrap="square"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hour_correction(period, hour)</a:t>
            </a:r>
            <a:endParaRPr lang="en-US" sz="1800" dirty="0"/>
          </a:p>
        </p:txBody>
      </p:sp>
      <p:sp>
        <p:nvSpPr>
          <p:cNvPr id="8" name="text_171"/>
          <p:cNvSpPr txBox="1"/>
          <p:nvPr/>
        </p:nvSpPr>
        <p:spPr>
          <a:xfrm>
            <a:off x="6309360" y="1737360"/>
            <a:ext cx="5120640" cy="1005840"/>
          </a:xfrm>
          <a:prstGeom prst="rect">
            <a:avLst/>
          </a:prstGeom>
          <a:noFill/>
          <a:ln/>
        </p:spPr>
        <p:txBody>
          <a:bodyPr wrap="square" rtlCol="0" anchor="t"/>
          <a:lstStyle/>
          <a:p>
            <a:pPr indent="0" marL="0">
              <a:buNone/>
            </a:pPr>
            <a:r>
              <a:rPr lang="en-US" sz="1500" dirty="0">
                <a:solidFill>
                  <a:schemeClr val="tx1"/>
                </a:solidFill>
              </a:rPr>
              <a:t>Median of (RTT − level) of dry runs at that hour, separately before/after the December gap. Night ≈ +2 ms, morning ≈ −1.5 ms.</a:t>
            </a:r>
            <a:endParaRPr lang="en-US" sz="1500" dirty="0"/>
          </a:p>
        </p:txBody>
      </p:sp>
      <p:pic>
        <p:nvPicPr>
          <p:cNvPr id="9" name="figure_172" descr="/tmp/claude-1000/-home-jayyanth-Downloads-MTP-satelite-networks-satellite-weather-WetLinks/61c5169f-4506-4e61-86e2-175f001a73f9/scratchpad/doc/fig4a.png">    </p:cNvPr>
          <p:cNvPicPr>
            <a:picLocks noChangeAspect="1"/>
          </p:cNvPicPr>
          <p:nvPr/>
        </p:nvPicPr>
        <p:blipFill>
          <a:blip r:embed="rId1"/>
          <a:stretch>
            <a:fillRect/>
          </a:stretch>
        </p:blipFill>
        <p:spPr>
          <a:xfrm>
            <a:off x="548640" y="2971800"/>
            <a:ext cx="6583680" cy="2157677"/>
          </a:xfrm>
          <a:prstGeom prst="rect">
            <a:avLst/>
          </a:prstGeom>
        </p:spPr>
      </p:pic>
      <p:sp>
        <p:nvSpPr>
          <p:cNvPr id="10" name="text_173"/>
          <p:cNvSpPr txBox="1"/>
          <p:nvPr/>
        </p:nvSpPr>
        <p:spPr>
          <a:xfrm>
            <a:off x="548640" y="5166360"/>
            <a:ext cx="6583680" cy="365760"/>
          </a:xfrm>
          <a:prstGeom prst="rect">
            <a:avLst/>
          </a:prstGeom>
          <a:noFill/>
          <a:ln/>
        </p:spPr>
        <p:txBody>
          <a:bodyPr wrap="square" rtlCol="0" anchor="t"/>
          <a:lstStyle/>
          <a:p>
            <a:pPr indent="0" marL="0">
              <a:buNone/>
            </a:pPr>
            <a:r>
              <a:rPr lang="en-US" sz="1200" i="1" dirty="0">
                <a:solidFill>
                  <a:schemeClr val="accent3"/>
                </a:solidFill>
              </a:rPr>
              <a:t>Daily dry medians (grey) and level(day) (red), notebook Step 4a.</a:t>
            </a:r>
            <a:endParaRPr lang="en-US" sz="1200" dirty="0"/>
          </a:p>
        </p:txBody>
      </p:sp>
      <p:sp>
        <p:nvSpPr>
          <p:cNvPr id="11" name="card_174"/>
          <p:cNvSpPr/>
          <p:nvPr/>
        </p:nvSpPr>
        <p:spPr>
          <a:xfrm>
            <a:off x="7406640" y="2971800"/>
            <a:ext cx="4206240" cy="3200400"/>
          </a:xfrm>
          <a:prstGeom prst="roundRect">
            <a:avLst>
              <a:gd name="adj" fmla="val 3429"/>
            </a:avLst>
          </a:prstGeom>
          <a:solidFill>
            <a:srgbClr val="14213D"/>
          </a:solidFill>
          <a:ln w="12700">
            <a:solidFill>
              <a:srgbClr val="14213D"/>
            </a:solidFill>
            <a:prstDash val="solid"/>
          </a:ln>
        </p:spPr>
      </p:sp>
      <p:sp>
        <p:nvSpPr>
          <p:cNvPr id="12" name="text_175"/>
          <p:cNvSpPr txBox="1"/>
          <p:nvPr/>
        </p:nvSpPr>
        <p:spPr>
          <a:xfrm>
            <a:off x="7589520" y="3063240"/>
            <a:ext cx="3840480" cy="411480"/>
          </a:xfrm>
          <a:prstGeom prst="rect">
            <a:avLst/>
          </a:prstGeom>
          <a:noFill/>
          <a:ln/>
        </p:spPr>
        <p:txBody>
          <a:bodyPr wrap="square" rtlCol="0" anchor="t"/>
          <a:lstStyle/>
          <a:p>
            <a:pPr indent="0" marL="0">
              <a:buNone/>
            </a:pPr>
            <a:r>
              <a:rPr lang="en-US" sz="1600" b="1" dirty="0">
                <a:solidFill>
                  <a:schemeClr val="accent4"/>
                </a:solidFill>
              </a:rPr>
              <a:t>Real run: 2023-10-11, 15:53</a:t>
            </a:r>
            <a:endParaRPr lang="en-US" sz="1600" dirty="0"/>
          </a:p>
        </p:txBody>
      </p:sp>
      <p:sp>
        <p:nvSpPr>
          <p:cNvPr id="13" name="text_176"/>
          <p:cNvSpPr txBox="1"/>
          <p:nvPr/>
        </p:nvSpPr>
        <p:spPr>
          <a:xfrm>
            <a:off x="7589520" y="3520440"/>
            <a:ext cx="3840480" cy="1920240"/>
          </a:xfrm>
          <a:prstGeom prst="rect">
            <a:avLst/>
          </a:prstGeom>
          <a:noFill/>
          <a:ln/>
        </p:spPr>
        <p:txBody>
          <a:bodyPr wrap="square" rtlCol="0" anchor="t"/>
          <a:lstStyle/>
          <a:p>
            <a:pPr indent="0" marL="0">
              <a:buNone/>
            </a:pPr>
            <a:r>
              <a:rPr lang="en-US" sz="1600" dirty="0">
                <a:solidFill>
                  <a:schemeClr val="bg1"/>
                </a:solidFill>
                <a:latin typeface="Courier New" pitchFamily="34" charset="0"/>
                <a:ea typeface="Courier New" pitchFamily="34" charset="-122"/>
                <a:cs typeface="Courier New" pitchFamily="34" charset="-120"/>
              </a:rPr>
              <a:t>level             32.19</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hour_correction   −0.67</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estimate          31.52</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measured          41.77</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excess_rtt       +10.25 ms</a:t>
            </a:r>
            <a:endParaRPr lang="en-US" sz="1600" dirty="0"/>
          </a:p>
        </p:txBody>
      </p:sp>
      <p:sp>
        <p:nvSpPr>
          <p:cNvPr id="14" name="text_177"/>
          <p:cNvSpPr txBox="1"/>
          <p:nvPr/>
        </p:nvSpPr>
        <p:spPr>
          <a:xfrm>
            <a:off x="7589520" y="5486400"/>
            <a:ext cx="3840480" cy="548640"/>
          </a:xfrm>
          <a:prstGeom prst="rect">
            <a:avLst/>
          </a:prstGeom>
          <a:noFill/>
          <a:ln/>
        </p:spPr>
        <p:txBody>
          <a:bodyPr wrap="square" rtlCol="0" anchor="t"/>
          <a:lstStyle/>
          <a:p>
            <a:pPr indent="0" marL="0">
              <a:buNone/>
            </a:pPr>
            <a:r>
              <a:rPr lang="en-US" sz="1400" i="1" dirty="0">
                <a:solidFill>
                  <a:schemeClr val="accent4"/>
                </a:solidFill>
              </a:rPr>
              <a:t>Check: std of daily medians 2.71 → 1.15 ms</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nchor="b"/>
          <a:lstStyle/>
          <a:p>
            <a:pPr indent="0" marL="0">
              <a:buNone/>
            </a:pPr>
            <a:r>
              <a:rPr lang="en-US" sz="4400" b="1" dirty="0">
                <a:solidFill>
                  <a:schemeClr val="bg1"/>
                </a:solidFill>
                <a:latin typeface="Cambria" pitchFamily="34" charset="0"/>
                <a:ea typeface="Cambria" pitchFamily="34" charset="-122"/>
                <a:cs typeface="Cambria" pitchFamily="34" charset="-120"/>
              </a:rPr>
              <a:t>Next: correlate excess_rtt with rain</a:t>
            </a:r>
            <a:endParaRPr lang="en-US" sz="4400" dirty="0"/>
          </a:p>
        </p:txBody>
      </p:sp>
      <p:sp>
        <p:nvSpPr>
          <p:cNvPr id="3" name="Text 0"/>
          <p:cNvSpPr/>
          <p:nvPr>
            <p:ph idx="101" type="body" hasCustomPrompt="1"/>
          </p:nvPr>
        </p:nvSpPr>
        <p:spPr>
          <a:xfrm>
            <a:off x="731520" y="3474720"/>
            <a:ext cx="10698480" cy="1280160"/>
          </a:xfrm>
          <a:prstGeom prst="rect">
            <a:avLst/>
          </a:prstGeom>
          <a:noFill/>
          <a:ln/>
        </p:spPr>
        <p:txBody>
          <a:bodyPr wrap="square" rtlCol="0" anchor="t"/>
          <a:lstStyle/>
          <a:p>
            <a:pPr indent="0" marL="0">
              <a:buNone/>
            </a:pPr>
            <a:r>
              <a:rPr lang="en-US" sz="2000" dirty="0">
                <a:solidFill>
                  <a:schemeClr val="accent4"/>
                </a:solidFill>
              </a:rPr>
              <a:t>37,491 runs with excess_rtt · compare median excess_rtt of rainy vs dry runs by rain rate · test the correlation</a:t>
            </a:r>
            <a:endParaRPr lang="en-US" sz="2000" dirty="0"/>
          </a:p>
        </p:txBody>
      </p:sp>
    </p:spTree>
  </p:cSld>
  <p:clrMapOvr>
    <a:masterClrMapping/>
  </p:clrMapOvr>
</p:sld>
</file>

<file path=ppt/theme/theme1.xml><?xml version="1.0" encoding="utf-8"?>
<a:theme xmlns:a="http://schemas.openxmlformats.org/drawingml/2006/main" name="Bentpipe Rain">
  <a:themeElements>
    <a:clrScheme name="Bentpipe Rain">
      <a:dk1>
        <a:srgbClr val="1B1F24"/>
      </a:dk1>
      <a:lt1>
        <a:srgbClr val="FFFFFF"/>
      </a:lt1>
      <a:dk2>
        <a:srgbClr val="14213D"/>
      </a:dk2>
      <a:lt2>
        <a:srgbClr val="EEF3F7"/>
      </a:lt2>
      <a:accent1>
        <a:srgbClr val="0F8B8D"/>
      </a:accent1>
      <a:accent2>
        <a:srgbClr val="F2A541"/>
      </a:accent2>
      <a:accent3>
        <a:srgbClr val="5C6B7A"/>
      </a:accent3>
      <a:accent4>
        <a:srgbClr val="A8DADC"/>
      </a:accent4>
      <a:accent5>
        <a:srgbClr val="C8553D"/>
      </a:accent5>
      <a:accent6>
        <a:srgbClr val="3D5A80"/>
      </a:accent6>
      <a:hlink>
        <a:srgbClr val="0F8B8D"/>
      </a:hlink>
      <a:folHlink>
        <a:srgbClr val="3D5A80"/>
      </a:folHlink>
    </a:clrScheme>
    <a:fontScheme name="Bentpipe Ra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Bent-pipe RTT and Rain (Osnabrück)</dc:title>
  <dc:subject>PptxGenJS Presentation</dc:subject>
  <dc:creator>PptxGenJS</dc:creator>
  <cp:lastModifiedBy>PptxGenJS</cp:lastModifiedBy>
  <cp:revision>1</cp:revision>
  <dcterms:created xsi:type="dcterms:W3CDTF">2026-10-16T13:58:14Z</dcterms:created>
  <dcterms:modified xsi:type="dcterms:W3CDTF">2026-10-16T13:58:14Z</dcterms:modified>
</cp:coreProperties>
</file>